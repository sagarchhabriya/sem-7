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06" autoAdjust="0"/>
  </p:normalViewPr>
  <p:slideViewPr>
    <p:cSldViewPr snapToGrid="0">
      <p:cViewPr>
        <p:scale>
          <a:sx n="66" d="100"/>
          <a:sy n="66" d="100"/>
        </p:scale>
        <p:origin x="90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1F0239-0D1E-4AD5-AAB9-48C640DED0D5}" type="datetimeFigureOut">
              <a:rPr lang="en-CA" smtClean="0"/>
              <a:t>2025-11-27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BFC2E-6025-484B-9A90-7595AA1AC3AB}" type="slidenum">
              <a:rPr lang="en-CA" smtClean="0"/>
              <a:t>‹#›</a:t>
            </a:fld>
            <a:endParaRPr lang="en-CA"/>
          </a:p>
        </p:txBody>
      </p:sp>
    </p:spTree>
    <p:extLst>
      <p:ext uri="{BB962C8B-B14F-4D97-AF65-F5344CB8AC3E}">
        <p14:creationId xmlns:p14="http://schemas.microsoft.com/office/powerpoint/2010/main" val="341017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Except for the operator precedence parser all the other parsers are unable to handle the ambiguous grammar so apart from this particular parser for all the different parsers we will have to use unambiguous CFGs</a:t>
            </a:r>
          </a:p>
        </p:txBody>
      </p:sp>
      <p:sp>
        <p:nvSpPr>
          <p:cNvPr id="4" name="Slide Number Placeholder 3"/>
          <p:cNvSpPr>
            <a:spLocks noGrp="1"/>
          </p:cNvSpPr>
          <p:nvPr>
            <p:ph type="sldNum" sz="quarter" idx="5"/>
          </p:nvPr>
        </p:nvSpPr>
        <p:spPr/>
        <p:txBody>
          <a:bodyPr/>
          <a:lstStyle/>
          <a:p>
            <a:fld id="{8B4BFC2E-6025-484B-9A90-7595AA1AC3AB}" type="slidenum">
              <a:rPr lang="en-CA" smtClean="0"/>
              <a:t>5</a:t>
            </a:fld>
            <a:endParaRPr lang="en-CA"/>
          </a:p>
        </p:txBody>
      </p:sp>
    </p:spTree>
    <p:extLst>
      <p:ext uri="{BB962C8B-B14F-4D97-AF65-F5344CB8AC3E}">
        <p14:creationId xmlns:p14="http://schemas.microsoft.com/office/powerpoint/2010/main" val="4009848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DFA: Deterministic Finite Automaton</a:t>
            </a:r>
          </a:p>
          <a:p>
            <a:r>
              <a:rPr lang="en-CA" dirty="0"/>
              <a:t>dot is the state/position of parser</a:t>
            </a:r>
          </a:p>
        </p:txBody>
      </p:sp>
      <p:sp>
        <p:nvSpPr>
          <p:cNvPr id="4" name="Slide Number Placeholder 3"/>
          <p:cNvSpPr>
            <a:spLocks noGrp="1"/>
          </p:cNvSpPr>
          <p:nvPr>
            <p:ph type="sldNum" sz="quarter" idx="5"/>
          </p:nvPr>
        </p:nvSpPr>
        <p:spPr/>
        <p:txBody>
          <a:bodyPr/>
          <a:lstStyle/>
          <a:p>
            <a:fld id="{8B4BFC2E-6025-484B-9A90-7595AA1AC3AB}" type="slidenum">
              <a:rPr lang="en-CA" smtClean="0"/>
              <a:t>9</a:t>
            </a:fld>
            <a:endParaRPr lang="en-CA"/>
          </a:p>
        </p:txBody>
      </p:sp>
    </p:spTree>
    <p:extLst>
      <p:ext uri="{BB962C8B-B14F-4D97-AF65-F5344CB8AC3E}">
        <p14:creationId xmlns:p14="http://schemas.microsoft.com/office/powerpoint/2010/main" val="1166447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73AC2-C110-4227-A99B-38638F2D2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FF4B356D-F0D1-45C0-A3B5-F5102AAD6A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AAB0A84-7BCE-4A8F-8A89-C8D7112437BB}"/>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5" name="Footer Placeholder 4">
            <a:extLst>
              <a:ext uri="{FF2B5EF4-FFF2-40B4-BE49-F238E27FC236}">
                <a16:creationId xmlns:a16="http://schemas.microsoft.com/office/drawing/2014/main" id="{C492C79B-814F-45D3-B862-9AB0BD647C9B}"/>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3BA3B932-B6F3-4D34-8B20-72C71D026285}"/>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987877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4773-D97B-47D3-BEF8-E5F7A38D48E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AD6879D-3EE7-4AE5-9628-9970109A24B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0398507-B437-4994-8EF6-381833A1ED6E}"/>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5" name="Footer Placeholder 4">
            <a:extLst>
              <a:ext uri="{FF2B5EF4-FFF2-40B4-BE49-F238E27FC236}">
                <a16:creationId xmlns:a16="http://schemas.microsoft.com/office/drawing/2014/main" id="{0626AB71-4425-4692-B16C-7EC516AC251F}"/>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26A57CC9-B983-4F3B-8AD6-7A453986376E}"/>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175169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F4D4-41A3-4410-B5D6-7B7744774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739F57C-5EF8-484D-A728-CE22A04B81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759E952-D59D-4620-B36C-E5EDD571FBFA}"/>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5" name="Footer Placeholder 4">
            <a:extLst>
              <a:ext uri="{FF2B5EF4-FFF2-40B4-BE49-F238E27FC236}">
                <a16:creationId xmlns:a16="http://schemas.microsoft.com/office/drawing/2014/main" id="{AEF3D7F0-A60F-4B6B-85CA-09F74BABEEA9}"/>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69B8D4FC-DA74-46B3-8E26-CD2765F663E2}"/>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288135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DBB9-F517-4452-8B57-E074CD42D07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421DE2D-DA1E-4E93-B267-23D1EA4ADDB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E677DC2-30E5-4EF5-AB9B-10EEE32ED1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F40E58F-5ACA-448D-9BB9-E439A8D3016C}"/>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6" name="Footer Placeholder 5">
            <a:extLst>
              <a:ext uri="{FF2B5EF4-FFF2-40B4-BE49-F238E27FC236}">
                <a16:creationId xmlns:a16="http://schemas.microsoft.com/office/drawing/2014/main" id="{305226DB-C33B-40F5-BDCC-70DE0A9A2A2D}"/>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202AB46C-CC2B-404B-8586-F4F7DFB04670}"/>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2086931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D49C-AD35-4BEF-AE27-F938BBC7180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A467CC0-0F46-4DC3-AEC7-35BF561FD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9A34A6-5E8E-44C1-98BD-9528B9833F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F13AE1A-D9C7-4CF2-9E23-0004D138AC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669D91F-3C8D-4611-9229-3DB37956710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68E1386-D1F0-42AD-84F5-2A55F2AE43BE}"/>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8" name="Footer Placeholder 7">
            <a:extLst>
              <a:ext uri="{FF2B5EF4-FFF2-40B4-BE49-F238E27FC236}">
                <a16:creationId xmlns:a16="http://schemas.microsoft.com/office/drawing/2014/main" id="{8FC1B9A1-9DF7-4B86-A906-05A2ADCBD48F}"/>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0BC21FC5-FCB7-4CAF-BA6E-DEF30A38FDCE}"/>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188518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5506-4F68-42AD-8E79-F4813AAF4B1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556BE53-612F-4458-B77D-3DD4E56D7015}"/>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4" name="Footer Placeholder 3">
            <a:extLst>
              <a:ext uri="{FF2B5EF4-FFF2-40B4-BE49-F238E27FC236}">
                <a16:creationId xmlns:a16="http://schemas.microsoft.com/office/drawing/2014/main" id="{C7BD9D90-41B1-405E-A158-297B6A0D8A2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A27734F8-E8EF-401C-827E-6D84A4869F88}"/>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37368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FFC30-15EA-46EB-9A6F-477C1E0FC7E2}"/>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3" name="Footer Placeholder 2">
            <a:extLst>
              <a:ext uri="{FF2B5EF4-FFF2-40B4-BE49-F238E27FC236}">
                <a16:creationId xmlns:a16="http://schemas.microsoft.com/office/drawing/2014/main" id="{F4A15C76-844E-41E0-93E4-723107941F3D}"/>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8C5CF37C-0AA6-4324-99F8-4F7A5A8EA556}"/>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382900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10286-B54D-4222-8206-BDF32E196A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A63F14E-6EBD-4134-89F5-08E7038FF5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C6BA155-B70F-4802-87F4-0908856306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0644C0-3CE8-4C69-B8C2-D08062DDC941}"/>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6" name="Footer Placeholder 5">
            <a:extLst>
              <a:ext uri="{FF2B5EF4-FFF2-40B4-BE49-F238E27FC236}">
                <a16:creationId xmlns:a16="http://schemas.microsoft.com/office/drawing/2014/main" id="{49545636-0B08-4CAD-B83E-C662A90A1F7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582AB2B1-71EC-44AD-9329-969F7262355B}"/>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3378531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BBAB-C5E1-43F2-A9FF-AFF17ACEFB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27ACE67-5650-49CC-AB65-9F5B595DE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4F96E31-2384-42F6-9BB8-116CFF5DB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E160BB2-C9AA-4400-BE15-C5C2528AE12B}"/>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6" name="Footer Placeholder 5">
            <a:extLst>
              <a:ext uri="{FF2B5EF4-FFF2-40B4-BE49-F238E27FC236}">
                <a16:creationId xmlns:a16="http://schemas.microsoft.com/office/drawing/2014/main" id="{B12466B4-A1C2-416E-A6C8-EE56EA1AF0D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B05FF22C-82D5-4FA6-99EE-E16A34F60AF6}"/>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1386002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E6E53-C618-4640-8F8F-B0082B55DCE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0D302FD-7C30-449D-93B2-07129BBE5CC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AFF3F5-DAB8-439D-A1E8-0BB0F711A10F}"/>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5" name="Footer Placeholder 4">
            <a:extLst>
              <a:ext uri="{FF2B5EF4-FFF2-40B4-BE49-F238E27FC236}">
                <a16:creationId xmlns:a16="http://schemas.microsoft.com/office/drawing/2014/main" id="{A5F8D790-CF6F-4AF2-AE5B-CC5566942A1F}"/>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8019E552-335B-4CF3-BCBB-209280361698}"/>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3768740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C83AAD-C49B-4CCF-AA56-D971B287F1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645FE37-BBA7-4A8F-9555-5D740B3B1EB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52E073-E3EE-44F1-B36B-AA634387C544}"/>
              </a:ext>
            </a:extLst>
          </p:cNvPr>
          <p:cNvSpPr>
            <a:spLocks noGrp="1"/>
          </p:cNvSpPr>
          <p:nvPr>
            <p:ph type="dt" sz="half" idx="10"/>
          </p:nvPr>
        </p:nvSpPr>
        <p:spPr>
          <a:xfrm>
            <a:off x="838200" y="6356350"/>
            <a:ext cx="2743200" cy="365125"/>
          </a:xfrm>
          <a:prstGeom prst="rect">
            <a:avLst/>
          </a:prstGeom>
        </p:spPr>
        <p:txBody>
          <a:bodyPr/>
          <a:lstStyle/>
          <a:p>
            <a:fld id="{750C3A9E-7B75-466D-99E6-F1728DFD2429}" type="datetimeFigureOut">
              <a:rPr lang="en-CA" smtClean="0"/>
              <a:t>2025-11-27</a:t>
            </a:fld>
            <a:endParaRPr lang="en-CA"/>
          </a:p>
        </p:txBody>
      </p:sp>
      <p:sp>
        <p:nvSpPr>
          <p:cNvPr id="5" name="Footer Placeholder 4">
            <a:extLst>
              <a:ext uri="{FF2B5EF4-FFF2-40B4-BE49-F238E27FC236}">
                <a16:creationId xmlns:a16="http://schemas.microsoft.com/office/drawing/2014/main" id="{3A7EF4DB-99B7-4220-8F41-C4CDD357A174}"/>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16AD8B2C-1038-4BE3-9259-2F0F86574C68}"/>
              </a:ext>
            </a:extLst>
          </p:cNvPr>
          <p:cNvSpPr>
            <a:spLocks noGrp="1"/>
          </p:cNvSpPr>
          <p:nvPr>
            <p:ph type="sldNum" sz="quarter" idx="12"/>
          </p:nvPr>
        </p:nvSpPr>
        <p:spPr>
          <a:xfrm>
            <a:off x="8610600" y="6356350"/>
            <a:ext cx="2743200" cy="365125"/>
          </a:xfrm>
          <a:prstGeom prst="rect">
            <a:avLst/>
          </a:prstGeom>
        </p:spPr>
        <p:txBody>
          <a:bodyPr/>
          <a:lstStyle/>
          <a:p>
            <a:fld id="{4CE92054-6770-4A58-98B8-F16D3F10FB7C}" type="slidenum">
              <a:rPr lang="en-CA" smtClean="0"/>
              <a:t>‹#›</a:t>
            </a:fld>
            <a:endParaRPr lang="en-CA"/>
          </a:p>
        </p:txBody>
      </p:sp>
    </p:spTree>
    <p:extLst>
      <p:ext uri="{BB962C8B-B14F-4D97-AF65-F5344CB8AC3E}">
        <p14:creationId xmlns:p14="http://schemas.microsoft.com/office/powerpoint/2010/main" val="355416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863519-DB76-49A0-91C4-D4F81A1E9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A47DCB2-6F8B-4880-B486-BF5F39AF3C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6">
            <a:extLst>
              <a:ext uri="{FF2B5EF4-FFF2-40B4-BE49-F238E27FC236}">
                <a16:creationId xmlns:a16="http://schemas.microsoft.com/office/drawing/2014/main" id="{66CCE732-4BD8-4ABB-BB97-40680783F403}"/>
              </a:ext>
            </a:extLst>
          </p:cNvPr>
          <p:cNvSpPr/>
          <p:nvPr userDrawn="1"/>
        </p:nvSpPr>
        <p:spPr>
          <a:xfrm>
            <a:off x="0" y="6390000"/>
            <a:ext cx="12192000" cy="46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14181E10-75F7-4CDE-84C6-22BCFE834CF7}"/>
              </a:ext>
            </a:extLst>
          </p:cNvPr>
          <p:cNvSpPr txBox="1"/>
          <p:nvPr userDrawn="1"/>
        </p:nvSpPr>
        <p:spPr>
          <a:xfrm>
            <a:off x="79512" y="6439334"/>
            <a:ext cx="1815548" cy="369332"/>
          </a:xfrm>
          <a:prstGeom prst="rect">
            <a:avLst/>
          </a:prstGeom>
          <a:noFill/>
        </p:spPr>
        <p:txBody>
          <a:bodyPr wrap="square" rtlCol="0">
            <a:spAutoFit/>
          </a:bodyPr>
          <a:lstStyle/>
          <a:p>
            <a:r>
              <a:rPr lang="en-CA" dirty="0">
                <a:latin typeface="Cambria" panose="02040503050406030204" pitchFamily="18" charset="0"/>
                <a:ea typeface="Cambria" panose="02040503050406030204" pitchFamily="18" charset="0"/>
              </a:rPr>
              <a:t>Sagar Chhabriya</a:t>
            </a:r>
          </a:p>
        </p:txBody>
      </p:sp>
      <p:sp>
        <p:nvSpPr>
          <p:cNvPr id="9" name="TextBox 8">
            <a:extLst>
              <a:ext uri="{FF2B5EF4-FFF2-40B4-BE49-F238E27FC236}">
                <a16:creationId xmlns:a16="http://schemas.microsoft.com/office/drawing/2014/main" id="{D8B9B963-D05D-4418-BB13-C843F979F52F}"/>
              </a:ext>
            </a:extLst>
          </p:cNvPr>
          <p:cNvSpPr txBox="1"/>
          <p:nvPr userDrawn="1"/>
        </p:nvSpPr>
        <p:spPr>
          <a:xfrm>
            <a:off x="9581321" y="6425220"/>
            <a:ext cx="2564304" cy="369332"/>
          </a:xfrm>
          <a:prstGeom prst="rect">
            <a:avLst/>
          </a:prstGeom>
          <a:noFill/>
        </p:spPr>
        <p:txBody>
          <a:bodyPr wrap="square" rtlCol="0">
            <a:spAutoFit/>
          </a:bodyPr>
          <a:lstStyle/>
          <a:p>
            <a:r>
              <a:rPr lang="en-CA" dirty="0">
                <a:latin typeface="Cambria" panose="02040503050406030204" pitchFamily="18" charset="0"/>
                <a:ea typeface="Cambria" panose="02040503050406030204" pitchFamily="18" charset="0"/>
              </a:rPr>
              <a:t>Compiler Construction</a:t>
            </a:r>
          </a:p>
        </p:txBody>
      </p:sp>
    </p:spTree>
    <p:extLst>
      <p:ext uri="{BB962C8B-B14F-4D97-AF65-F5344CB8AC3E}">
        <p14:creationId xmlns:p14="http://schemas.microsoft.com/office/powerpoint/2010/main" val="2276609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E8A5-7606-449A-8C52-B4B12F58ECC1}"/>
              </a:ext>
            </a:extLst>
          </p:cNvPr>
          <p:cNvSpPr>
            <a:spLocks noGrp="1"/>
          </p:cNvSpPr>
          <p:nvPr>
            <p:ph type="ctrTitle"/>
          </p:nvPr>
        </p:nvSpPr>
        <p:spPr/>
        <p:txBody>
          <a:bodyPr/>
          <a:lstStyle/>
          <a:p>
            <a:r>
              <a:rPr lang="en-CA" dirty="0"/>
              <a:t>LR Parser</a:t>
            </a:r>
          </a:p>
        </p:txBody>
      </p:sp>
      <p:sp>
        <p:nvSpPr>
          <p:cNvPr id="3" name="Subtitle 2">
            <a:extLst>
              <a:ext uri="{FF2B5EF4-FFF2-40B4-BE49-F238E27FC236}">
                <a16:creationId xmlns:a16="http://schemas.microsoft.com/office/drawing/2014/main" id="{75D3848B-44C8-433F-9A04-2206468FD8DE}"/>
              </a:ext>
            </a:extLst>
          </p:cNvPr>
          <p:cNvSpPr>
            <a:spLocks noGrp="1"/>
          </p:cNvSpPr>
          <p:nvPr>
            <p:ph type="subTitle" idx="1"/>
          </p:nvPr>
        </p:nvSpPr>
        <p:spPr/>
        <p:txBody>
          <a:bodyPr>
            <a:normAutofit lnSpcReduction="10000"/>
          </a:bodyPr>
          <a:lstStyle/>
          <a:p>
            <a:r>
              <a:rPr lang="en-US" dirty="0"/>
              <a:t>Presenter: Sagar Chhabriya</a:t>
            </a:r>
          </a:p>
          <a:p>
            <a:r>
              <a:rPr lang="en-US" dirty="0"/>
              <a:t>Compiler Construction Presentation: LR Parser</a:t>
            </a:r>
          </a:p>
          <a:p>
            <a:r>
              <a:rPr lang="en-US" dirty="0"/>
              <a:t>Nov 27, 2025</a:t>
            </a:r>
          </a:p>
          <a:p>
            <a:r>
              <a:rPr lang="en-US" dirty="0"/>
              <a:t>Instructor: Muhammad </a:t>
            </a:r>
            <a:r>
              <a:rPr lang="en-US" dirty="0" err="1"/>
              <a:t>Haris</a:t>
            </a:r>
            <a:endParaRPr lang="en-CA" dirty="0"/>
          </a:p>
        </p:txBody>
      </p:sp>
    </p:spTree>
    <p:extLst>
      <p:ext uri="{BB962C8B-B14F-4D97-AF65-F5344CB8AC3E}">
        <p14:creationId xmlns:p14="http://schemas.microsoft.com/office/powerpoint/2010/main" val="28728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F683-0667-48CC-86B4-9232D90BFA6B}"/>
              </a:ext>
            </a:extLst>
          </p:cNvPr>
          <p:cNvSpPr>
            <a:spLocks noGrp="1"/>
          </p:cNvSpPr>
          <p:nvPr>
            <p:ph type="title"/>
          </p:nvPr>
        </p:nvSpPr>
        <p:spPr/>
        <p:txBody>
          <a:bodyPr/>
          <a:lstStyle/>
          <a:p>
            <a:r>
              <a:rPr lang="en-CA" dirty="0"/>
              <a:t>Agenda</a:t>
            </a:r>
          </a:p>
        </p:txBody>
      </p:sp>
      <p:sp>
        <p:nvSpPr>
          <p:cNvPr id="3" name="Content Placeholder 2">
            <a:extLst>
              <a:ext uri="{FF2B5EF4-FFF2-40B4-BE49-F238E27FC236}">
                <a16:creationId xmlns:a16="http://schemas.microsoft.com/office/drawing/2014/main" id="{72AFE13D-931F-4CF3-94A7-DF243997C12B}"/>
              </a:ext>
            </a:extLst>
          </p:cNvPr>
          <p:cNvSpPr>
            <a:spLocks noGrp="1"/>
          </p:cNvSpPr>
          <p:nvPr>
            <p:ph idx="1"/>
          </p:nvPr>
        </p:nvSpPr>
        <p:spPr/>
        <p:txBody>
          <a:bodyPr/>
          <a:lstStyle/>
          <a:p>
            <a:r>
              <a:rPr lang="en-CA" dirty="0"/>
              <a:t>Definition of Parser</a:t>
            </a:r>
          </a:p>
          <a:p>
            <a:r>
              <a:rPr lang="en-CA" dirty="0"/>
              <a:t>Ways of generating Parse Trees</a:t>
            </a:r>
          </a:p>
          <a:p>
            <a:r>
              <a:rPr lang="en-CA" dirty="0"/>
              <a:t>Classification of Parsers</a:t>
            </a:r>
          </a:p>
          <a:p>
            <a:r>
              <a:rPr lang="en-CA" dirty="0"/>
              <a:t>Numerical with Solution</a:t>
            </a:r>
          </a:p>
        </p:txBody>
      </p:sp>
    </p:spTree>
    <p:extLst>
      <p:ext uri="{BB962C8B-B14F-4D97-AF65-F5344CB8AC3E}">
        <p14:creationId xmlns:p14="http://schemas.microsoft.com/office/powerpoint/2010/main" val="1385096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AAEFC-D7D5-4393-8B37-560EFA6230A2}"/>
              </a:ext>
            </a:extLst>
          </p:cNvPr>
          <p:cNvSpPr>
            <a:spLocks noGrp="1"/>
          </p:cNvSpPr>
          <p:nvPr>
            <p:ph type="title"/>
          </p:nvPr>
        </p:nvSpPr>
        <p:spPr/>
        <p:txBody>
          <a:bodyPr/>
          <a:lstStyle/>
          <a:p>
            <a:r>
              <a:rPr lang="en-CA" dirty="0"/>
              <a:t>Parser</a:t>
            </a:r>
          </a:p>
        </p:txBody>
      </p:sp>
      <p:sp>
        <p:nvSpPr>
          <p:cNvPr id="3" name="Content Placeholder 2">
            <a:extLst>
              <a:ext uri="{FF2B5EF4-FFF2-40B4-BE49-F238E27FC236}">
                <a16:creationId xmlns:a16="http://schemas.microsoft.com/office/drawing/2014/main" id="{718FA9BC-6B2B-445B-8F2A-F273307E2E6B}"/>
              </a:ext>
            </a:extLst>
          </p:cNvPr>
          <p:cNvSpPr>
            <a:spLocks noGrp="1"/>
          </p:cNvSpPr>
          <p:nvPr>
            <p:ph idx="1"/>
          </p:nvPr>
        </p:nvSpPr>
        <p:spPr/>
        <p:txBody>
          <a:bodyPr>
            <a:normAutofit/>
          </a:bodyPr>
          <a:lstStyle/>
          <a:p>
            <a:pPr algn="just"/>
            <a:r>
              <a:rPr lang="en-CA" sz="2400" dirty="0"/>
              <a:t>A parser is a program that generates a parse tree for the given string, if the string is generated from the underlying grammar.</a:t>
            </a:r>
          </a:p>
          <a:p>
            <a:pPr algn="just"/>
            <a:endParaRPr lang="en-CA" sz="2400" dirty="0"/>
          </a:p>
          <a:p>
            <a:pPr algn="just"/>
            <a:r>
              <a:rPr lang="en-CA" sz="2400" dirty="0"/>
              <a:t>HL Code → x = a + b * c;  </a:t>
            </a:r>
          </a:p>
          <a:p>
            <a:pPr algn="just"/>
            <a:r>
              <a:rPr lang="en-CA" sz="2400" dirty="0"/>
              <a:t>Converted Code → id = id + id * id; → Feed into Parser → Parse Tree</a:t>
            </a:r>
          </a:p>
          <a:p>
            <a:pPr algn="just"/>
            <a:endParaRPr lang="en-CA" sz="2400" dirty="0"/>
          </a:p>
          <a:p>
            <a:pPr marL="0" indent="0" algn="just">
              <a:buNone/>
            </a:pPr>
            <a:r>
              <a:rPr lang="en-CA" sz="2400" dirty="0"/>
              <a:t>If this particular string can be generated from the underlying grammar, then the parser program generates a parse tree.</a:t>
            </a:r>
          </a:p>
        </p:txBody>
      </p:sp>
    </p:spTree>
    <p:extLst>
      <p:ext uri="{BB962C8B-B14F-4D97-AF65-F5344CB8AC3E}">
        <p14:creationId xmlns:p14="http://schemas.microsoft.com/office/powerpoint/2010/main" val="264534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55C2-8E99-4AD5-98D6-9815C3B75E53}"/>
              </a:ext>
            </a:extLst>
          </p:cNvPr>
          <p:cNvSpPr>
            <a:spLocks noGrp="1"/>
          </p:cNvSpPr>
          <p:nvPr>
            <p:ph type="title"/>
          </p:nvPr>
        </p:nvSpPr>
        <p:spPr/>
        <p:txBody>
          <a:bodyPr/>
          <a:lstStyle/>
          <a:p>
            <a:r>
              <a:rPr lang="en-CA" dirty="0"/>
              <a:t>Generation of Parse Tree</a:t>
            </a:r>
          </a:p>
        </p:txBody>
      </p:sp>
      <p:sp>
        <p:nvSpPr>
          <p:cNvPr id="3" name="Content Placeholder 2">
            <a:extLst>
              <a:ext uri="{FF2B5EF4-FFF2-40B4-BE49-F238E27FC236}">
                <a16:creationId xmlns:a16="http://schemas.microsoft.com/office/drawing/2014/main" id="{8546E9E8-5447-4B11-B8D8-DB5D5C847672}"/>
              </a:ext>
            </a:extLst>
          </p:cNvPr>
          <p:cNvSpPr>
            <a:spLocks noGrp="1"/>
          </p:cNvSpPr>
          <p:nvPr>
            <p:ph idx="1"/>
          </p:nvPr>
        </p:nvSpPr>
        <p:spPr/>
        <p:txBody>
          <a:bodyPr/>
          <a:lstStyle/>
          <a:p>
            <a:r>
              <a:rPr lang="en-CA" dirty="0"/>
              <a:t>Top Down approach</a:t>
            </a:r>
          </a:p>
          <a:p>
            <a:r>
              <a:rPr lang="en-CA" dirty="0"/>
              <a:t>Bottom up approach</a:t>
            </a:r>
          </a:p>
        </p:txBody>
      </p:sp>
    </p:spTree>
    <p:extLst>
      <p:ext uri="{BB962C8B-B14F-4D97-AF65-F5344CB8AC3E}">
        <p14:creationId xmlns:p14="http://schemas.microsoft.com/office/powerpoint/2010/main" val="408061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7E51-7B60-49BB-A710-249391BCFCD1}"/>
              </a:ext>
            </a:extLst>
          </p:cNvPr>
          <p:cNvSpPr>
            <a:spLocks noGrp="1"/>
          </p:cNvSpPr>
          <p:nvPr>
            <p:ph type="title"/>
          </p:nvPr>
        </p:nvSpPr>
        <p:spPr/>
        <p:txBody>
          <a:bodyPr/>
          <a:lstStyle/>
          <a:p>
            <a:r>
              <a:rPr lang="en-CA" dirty="0"/>
              <a:t>Classification of Parsers</a:t>
            </a:r>
          </a:p>
        </p:txBody>
      </p:sp>
      <p:sp>
        <p:nvSpPr>
          <p:cNvPr id="4" name="TextBox 3">
            <a:extLst>
              <a:ext uri="{FF2B5EF4-FFF2-40B4-BE49-F238E27FC236}">
                <a16:creationId xmlns:a16="http://schemas.microsoft.com/office/drawing/2014/main" id="{4D6CD356-BC3E-4C93-A15A-98FA768A6DC5}"/>
              </a:ext>
            </a:extLst>
          </p:cNvPr>
          <p:cNvSpPr txBox="1"/>
          <p:nvPr/>
        </p:nvSpPr>
        <p:spPr>
          <a:xfrm>
            <a:off x="5013511" y="1690688"/>
            <a:ext cx="2164977" cy="461665"/>
          </a:xfrm>
          <a:prstGeom prst="rect">
            <a:avLst/>
          </a:prstGeom>
          <a:noFill/>
        </p:spPr>
        <p:txBody>
          <a:bodyPr wrap="square" rtlCol="0">
            <a:spAutoFit/>
          </a:bodyPr>
          <a:lstStyle/>
          <a:p>
            <a:pPr algn="ctr"/>
            <a:r>
              <a:rPr lang="en-CA" sz="2400" dirty="0">
                <a:latin typeface="Cambria" panose="02040503050406030204" pitchFamily="18" charset="0"/>
                <a:ea typeface="Cambria" panose="02040503050406030204" pitchFamily="18" charset="0"/>
              </a:rPr>
              <a:t>Parsers</a:t>
            </a:r>
          </a:p>
        </p:txBody>
      </p:sp>
      <p:cxnSp>
        <p:nvCxnSpPr>
          <p:cNvPr id="7" name="Straight Connector 6">
            <a:extLst>
              <a:ext uri="{FF2B5EF4-FFF2-40B4-BE49-F238E27FC236}">
                <a16:creationId xmlns:a16="http://schemas.microsoft.com/office/drawing/2014/main" id="{8FC4D731-777B-4C49-AF7A-2F69F57CBAAF}"/>
              </a:ext>
            </a:extLst>
          </p:cNvPr>
          <p:cNvCxnSpPr/>
          <p:nvPr/>
        </p:nvCxnSpPr>
        <p:spPr>
          <a:xfrm flipV="1">
            <a:off x="5013511" y="1690688"/>
            <a:ext cx="0" cy="461665"/>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8" name="Straight Connector 7">
            <a:extLst>
              <a:ext uri="{FF2B5EF4-FFF2-40B4-BE49-F238E27FC236}">
                <a16:creationId xmlns:a16="http://schemas.microsoft.com/office/drawing/2014/main" id="{7EFB93B5-87D6-4A82-8405-4B161C66C97E}"/>
              </a:ext>
            </a:extLst>
          </p:cNvPr>
          <p:cNvCxnSpPr/>
          <p:nvPr/>
        </p:nvCxnSpPr>
        <p:spPr>
          <a:xfrm flipV="1">
            <a:off x="7169971" y="1690687"/>
            <a:ext cx="0" cy="461665"/>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9" name="Straight Connector 8">
            <a:extLst>
              <a:ext uri="{FF2B5EF4-FFF2-40B4-BE49-F238E27FC236}">
                <a16:creationId xmlns:a16="http://schemas.microsoft.com/office/drawing/2014/main" id="{B0421995-FFD9-4CC1-BFC8-0AE92D03699F}"/>
              </a:ext>
            </a:extLst>
          </p:cNvPr>
          <p:cNvCxnSpPr>
            <a:cxnSpLocks/>
          </p:cNvCxnSpPr>
          <p:nvPr/>
        </p:nvCxnSpPr>
        <p:spPr>
          <a:xfrm flipH="1">
            <a:off x="5013511" y="1690686"/>
            <a:ext cx="2156461" cy="1"/>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12" name="Straight Connector 11">
            <a:extLst>
              <a:ext uri="{FF2B5EF4-FFF2-40B4-BE49-F238E27FC236}">
                <a16:creationId xmlns:a16="http://schemas.microsoft.com/office/drawing/2014/main" id="{0C2A1455-473B-446D-A145-18C826A92FFE}"/>
              </a:ext>
            </a:extLst>
          </p:cNvPr>
          <p:cNvCxnSpPr>
            <a:cxnSpLocks/>
          </p:cNvCxnSpPr>
          <p:nvPr/>
        </p:nvCxnSpPr>
        <p:spPr>
          <a:xfrm flipH="1">
            <a:off x="5014407" y="2152351"/>
            <a:ext cx="2156461" cy="1"/>
          </a:xfrm>
          <a:prstGeom prst="line">
            <a:avLst/>
          </a:prstGeom>
          <a:ln/>
        </p:spPr>
        <p:style>
          <a:lnRef idx="3">
            <a:schemeClr val="accent3"/>
          </a:lnRef>
          <a:fillRef idx="0">
            <a:schemeClr val="accent3"/>
          </a:fillRef>
          <a:effectRef idx="2">
            <a:schemeClr val="accent3"/>
          </a:effectRef>
          <a:fontRef idx="minor">
            <a:schemeClr val="tx1"/>
          </a:fontRef>
        </p:style>
      </p:cxnSp>
      <p:sp>
        <p:nvSpPr>
          <p:cNvPr id="13" name="TextBox 12">
            <a:extLst>
              <a:ext uri="{FF2B5EF4-FFF2-40B4-BE49-F238E27FC236}">
                <a16:creationId xmlns:a16="http://schemas.microsoft.com/office/drawing/2014/main" id="{FFC9B51E-2ED7-4173-9842-DDFE4A05DB05}"/>
              </a:ext>
            </a:extLst>
          </p:cNvPr>
          <p:cNvSpPr txBox="1"/>
          <p:nvPr/>
        </p:nvSpPr>
        <p:spPr>
          <a:xfrm>
            <a:off x="1763805" y="2515440"/>
            <a:ext cx="2162736" cy="400110"/>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Top Down Parser</a:t>
            </a:r>
          </a:p>
        </p:txBody>
      </p:sp>
      <p:sp>
        <p:nvSpPr>
          <p:cNvPr id="14" name="TextBox 13">
            <a:extLst>
              <a:ext uri="{FF2B5EF4-FFF2-40B4-BE49-F238E27FC236}">
                <a16:creationId xmlns:a16="http://schemas.microsoft.com/office/drawing/2014/main" id="{5C64B5C5-B94F-498A-AC27-279659324E31}"/>
              </a:ext>
            </a:extLst>
          </p:cNvPr>
          <p:cNvSpPr txBox="1"/>
          <p:nvPr/>
        </p:nvSpPr>
        <p:spPr>
          <a:xfrm>
            <a:off x="7940488" y="2421311"/>
            <a:ext cx="2162736" cy="400110"/>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Bottom-up Parser</a:t>
            </a:r>
          </a:p>
        </p:txBody>
      </p:sp>
      <p:sp>
        <p:nvSpPr>
          <p:cNvPr id="15" name="TextBox 14">
            <a:extLst>
              <a:ext uri="{FF2B5EF4-FFF2-40B4-BE49-F238E27FC236}">
                <a16:creationId xmlns:a16="http://schemas.microsoft.com/office/drawing/2014/main" id="{CFC68ADA-35EE-44F1-9B8C-AD12E41905BC}"/>
              </a:ext>
            </a:extLst>
          </p:cNvPr>
          <p:cNvSpPr txBox="1"/>
          <p:nvPr/>
        </p:nvSpPr>
        <p:spPr>
          <a:xfrm>
            <a:off x="7940488" y="2652144"/>
            <a:ext cx="2162736" cy="338554"/>
          </a:xfrm>
          <a:prstGeom prst="rect">
            <a:avLst/>
          </a:prstGeom>
          <a:noFill/>
        </p:spPr>
        <p:txBody>
          <a:bodyPr wrap="square" rtlCol="0">
            <a:spAutoFit/>
          </a:bodyPr>
          <a:lstStyle/>
          <a:p>
            <a:pPr algn="ctr"/>
            <a:r>
              <a:rPr lang="en-CA" sz="1600" dirty="0">
                <a:latin typeface="Cambria" panose="02040503050406030204" pitchFamily="18" charset="0"/>
                <a:ea typeface="Cambria" panose="02040503050406030204" pitchFamily="18" charset="0"/>
              </a:rPr>
              <a:t>(Shift-Reduce Parser)</a:t>
            </a:r>
            <a:endParaRPr lang="en-CA"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D77E83DD-01A2-43D8-9D2B-8A93E1C83267}"/>
              </a:ext>
            </a:extLst>
          </p:cNvPr>
          <p:cNvSpPr txBox="1"/>
          <p:nvPr/>
        </p:nvSpPr>
        <p:spPr>
          <a:xfrm>
            <a:off x="682437" y="3682262"/>
            <a:ext cx="2162736" cy="707886"/>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With Backtracking</a:t>
            </a:r>
          </a:p>
        </p:txBody>
      </p:sp>
      <p:sp>
        <p:nvSpPr>
          <p:cNvPr id="17" name="TextBox 16">
            <a:extLst>
              <a:ext uri="{FF2B5EF4-FFF2-40B4-BE49-F238E27FC236}">
                <a16:creationId xmlns:a16="http://schemas.microsoft.com/office/drawing/2014/main" id="{A248534C-6B79-4867-8382-7F10E5972DF7}"/>
              </a:ext>
            </a:extLst>
          </p:cNvPr>
          <p:cNvSpPr txBox="1"/>
          <p:nvPr/>
        </p:nvSpPr>
        <p:spPr>
          <a:xfrm>
            <a:off x="2845173" y="3736425"/>
            <a:ext cx="2162736" cy="707886"/>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Without</a:t>
            </a:r>
          </a:p>
          <a:p>
            <a:pPr algn="ctr"/>
            <a:r>
              <a:rPr lang="en-CA" sz="2000" dirty="0">
                <a:latin typeface="Cambria" panose="02040503050406030204" pitchFamily="18" charset="0"/>
                <a:ea typeface="Cambria" panose="02040503050406030204" pitchFamily="18" charset="0"/>
              </a:rPr>
              <a:t>Backtracking</a:t>
            </a:r>
          </a:p>
        </p:txBody>
      </p:sp>
      <p:sp>
        <p:nvSpPr>
          <p:cNvPr id="18" name="TextBox 17">
            <a:extLst>
              <a:ext uri="{FF2B5EF4-FFF2-40B4-BE49-F238E27FC236}">
                <a16:creationId xmlns:a16="http://schemas.microsoft.com/office/drawing/2014/main" id="{569D01DA-C083-49A9-82E5-451138CE3733}"/>
              </a:ext>
            </a:extLst>
          </p:cNvPr>
          <p:cNvSpPr txBox="1"/>
          <p:nvPr/>
        </p:nvSpPr>
        <p:spPr>
          <a:xfrm>
            <a:off x="827553" y="5004997"/>
            <a:ext cx="1872504" cy="400110"/>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Brute Forcing</a:t>
            </a:r>
          </a:p>
        </p:txBody>
      </p:sp>
      <p:sp>
        <p:nvSpPr>
          <p:cNvPr id="19" name="TextBox 18">
            <a:extLst>
              <a:ext uri="{FF2B5EF4-FFF2-40B4-BE49-F238E27FC236}">
                <a16:creationId xmlns:a16="http://schemas.microsoft.com/office/drawing/2014/main" id="{2F857163-2342-487A-8307-B1B786344A8F}"/>
              </a:ext>
            </a:extLst>
          </p:cNvPr>
          <p:cNvSpPr txBox="1"/>
          <p:nvPr/>
        </p:nvSpPr>
        <p:spPr>
          <a:xfrm>
            <a:off x="2565659" y="5059160"/>
            <a:ext cx="1549214" cy="923330"/>
          </a:xfrm>
          <a:prstGeom prst="rect">
            <a:avLst/>
          </a:prstGeom>
          <a:noFill/>
        </p:spPr>
        <p:txBody>
          <a:bodyPr wrap="square" rtlCol="0">
            <a:spAutoFit/>
          </a:bodyPr>
          <a:lstStyle/>
          <a:p>
            <a:pPr algn="ctr"/>
            <a:r>
              <a:rPr lang="en-CA" dirty="0">
                <a:latin typeface="Cambria" panose="02040503050406030204" pitchFamily="18" charset="0"/>
                <a:ea typeface="Cambria" panose="02040503050406030204" pitchFamily="18" charset="0"/>
              </a:rPr>
              <a:t>Recursive Descent</a:t>
            </a:r>
          </a:p>
          <a:p>
            <a:pPr algn="ctr"/>
            <a:r>
              <a:rPr lang="en-CA" dirty="0">
                <a:latin typeface="Cambria" panose="02040503050406030204" pitchFamily="18" charset="0"/>
                <a:ea typeface="Cambria" panose="02040503050406030204" pitchFamily="18" charset="0"/>
              </a:rPr>
              <a:t>Parsers</a:t>
            </a:r>
          </a:p>
        </p:txBody>
      </p:sp>
      <p:sp>
        <p:nvSpPr>
          <p:cNvPr id="20" name="TextBox 19">
            <a:extLst>
              <a:ext uri="{FF2B5EF4-FFF2-40B4-BE49-F238E27FC236}">
                <a16:creationId xmlns:a16="http://schemas.microsoft.com/office/drawing/2014/main" id="{40170C97-EFE9-4DB2-8EC4-CEDEB8B5850A}"/>
              </a:ext>
            </a:extLst>
          </p:cNvPr>
          <p:cNvSpPr txBox="1"/>
          <p:nvPr/>
        </p:nvSpPr>
        <p:spPr>
          <a:xfrm>
            <a:off x="3835695" y="5107557"/>
            <a:ext cx="1549214" cy="646331"/>
          </a:xfrm>
          <a:prstGeom prst="rect">
            <a:avLst/>
          </a:prstGeom>
          <a:noFill/>
        </p:spPr>
        <p:txBody>
          <a:bodyPr wrap="square" rtlCol="0">
            <a:spAutoFit/>
          </a:bodyPr>
          <a:lstStyle/>
          <a:p>
            <a:pPr algn="ctr"/>
            <a:r>
              <a:rPr lang="en-CA" dirty="0">
                <a:latin typeface="Cambria" panose="02040503050406030204" pitchFamily="18" charset="0"/>
                <a:ea typeface="Cambria" panose="02040503050406030204" pitchFamily="18" charset="0"/>
              </a:rPr>
              <a:t>Predictive</a:t>
            </a:r>
          </a:p>
          <a:p>
            <a:pPr algn="ctr"/>
            <a:r>
              <a:rPr lang="en-CA" dirty="0">
                <a:latin typeface="Cambria" panose="02040503050406030204" pitchFamily="18" charset="0"/>
                <a:ea typeface="Cambria" panose="02040503050406030204" pitchFamily="18" charset="0"/>
              </a:rPr>
              <a:t>Parsers</a:t>
            </a:r>
          </a:p>
        </p:txBody>
      </p:sp>
      <p:sp>
        <p:nvSpPr>
          <p:cNvPr id="21" name="TextBox 20">
            <a:extLst>
              <a:ext uri="{FF2B5EF4-FFF2-40B4-BE49-F238E27FC236}">
                <a16:creationId xmlns:a16="http://schemas.microsoft.com/office/drawing/2014/main" id="{8528C467-F3E3-4C2E-8F9C-592BE7F3E5A8}"/>
              </a:ext>
            </a:extLst>
          </p:cNvPr>
          <p:cNvSpPr txBox="1"/>
          <p:nvPr/>
        </p:nvSpPr>
        <p:spPr>
          <a:xfrm>
            <a:off x="3844884" y="5917952"/>
            <a:ext cx="1549214" cy="338554"/>
          </a:xfrm>
          <a:prstGeom prst="rect">
            <a:avLst/>
          </a:prstGeom>
          <a:noFill/>
        </p:spPr>
        <p:txBody>
          <a:bodyPr wrap="square" rtlCol="0">
            <a:spAutoFit/>
          </a:bodyPr>
          <a:lstStyle/>
          <a:p>
            <a:pPr algn="ctr"/>
            <a:r>
              <a:rPr lang="en-CA" sz="1600" dirty="0">
                <a:latin typeface="Cambria" panose="02040503050406030204" pitchFamily="18" charset="0"/>
                <a:ea typeface="Cambria" panose="02040503050406030204" pitchFamily="18" charset="0"/>
              </a:rPr>
              <a:t>LL(1), LL(k)</a:t>
            </a:r>
          </a:p>
        </p:txBody>
      </p:sp>
      <p:sp>
        <p:nvSpPr>
          <p:cNvPr id="22" name="TextBox 21">
            <a:extLst>
              <a:ext uri="{FF2B5EF4-FFF2-40B4-BE49-F238E27FC236}">
                <a16:creationId xmlns:a16="http://schemas.microsoft.com/office/drawing/2014/main" id="{D4F8285A-8EAB-4CAA-B0C1-43AB9F177DBF}"/>
              </a:ext>
            </a:extLst>
          </p:cNvPr>
          <p:cNvSpPr txBox="1"/>
          <p:nvPr/>
        </p:nvSpPr>
        <p:spPr>
          <a:xfrm>
            <a:off x="6628278" y="3682262"/>
            <a:ext cx="2367803" cy="707886"/>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Operator Precedence Parsers</a:t>
            </a:r>
          </a:p>
        </p:txBody>
      </p:sp>
      <p:sp>
        <p:nvSpPr>
          <p:cNvPr id="23" name="TextBox 22">
            <a:extLst>
              <a:ext uri="{FF2B5EF4-FFF2-40B4-BE49-F238E27FC236}">
                <a16:creationId xmlns:a16="http://schemas.microsoft.com/office/drawing/2014/main" id="{04F8CD58-B1D9-48B5-B9FD-5BDC9829D201}"/>
              </a:ext>
            </a:extLst>
          </p:cNvPr>
          <p:cNvSpPr txBox="1"/>
          <p:nvPr/>
        </p:nvSpPr>
        <p:spPr>
          <a:xfrm>
            <a:off x="9021856" y="3682262"/>
            <a:ext cx="2367803" cy="400110"/>
          </a:xfrm>
          <a:prstGeom prst="rect">
            <a:avLst/>
          </a:prstGeom>
          <a:noFill/>
        </p:spPr>
        <p:txBody>
          <a:bodyPr wrap="square" rtlCol="0">
            <a:spAutoFit/>
          </a:bodyPr>
          <a:lstStyle/>
          <a:p>
            <a:pPr algn="ctr"/>
            <a:r>
              <a:rPr lang="en-CA" sz="2000" dirty="0">
                <a:latin typeface="Cambria" panose="02040503050406030204" pitchFamily="18" charset="0"/>
                <a:ea typeface="Cambria" panose="02040503050406030204" pitchFamily="18" charset="0"/>
              </a:rPr>
              <a:t>LR Parsers</a:t>
            </a:r>
          </a:p>
        </p:txBody>
      </p:sp>
      <p:sp>
        <p:nvSpPr>
          <p:cNvPr id="24" name="TextBox 23">
            <a:extLst>
              <a:ext uri="{FF2B5EF4-FFF2-40B4-BE49-F238E27FC236}">
                <a16:creationId xmlns:a16="http://schemas.microsoft.com/office/drawing/2014/main" id="{CE636C6A-2BAA-47DA-A215-7BA0B0F13DB3}"/>
              </a:ext>
            </a:extLst>
          </p:cNvPr>
          <p:cNvSpPr txBox="1"/>
          <p:nvPr/>
        </p:nvSpPr>
        <p:spPr>
          <a:xfrm>
            <a:off x="9021856" y="4827724"/>
            <a:ext cx="2367803" cy="646331"/>
          </a:xfrm>
          <a:prstGeom prst="rect">
            <a:avLst/>
          </a:prstGeom>
          <a:noFill/>
        </p:spPr>
        <p:txBody>
          <a:bodyPr wrap="square" rtlCol="0">
            <a:spAutoFit/>
          </a:bodyPr>
          <a:lstStyle/>
          <a:p>
            <a:pPr algn="ctr"/>
            <a:r>
              <a:rPr lang="en-CA" dirty="0">
                <a:latin typeface="Cambria" panose="02040503050406030204" pitchFamily="18" charset="0"/>
                <a:ea typeface="Cambria" panose="02040503050406030204" pitchFamily="18" charset="0"/>
              </a:rPr>
              <a:t>LR(0), SLR(1), LALR(1), CLR(1)</a:t>
            </a:r>
          </a:p>
        </p:txBody>
      </p:sp>
      <p:cxnSp>
        <p:nvCxnSpPr>
          <p:cNvPr id="26" name="Straight Connector 25">
            <a:extLst>
              <a:ext uri="{FF2B5EF4-FFF2-40B4-BE49-F238E27FC236}">
                <a16:creationId xmlns:a16="http://schemas.microsoft.com/office/drawing/2014/main" id="{0D25B32E-FFFA-4DE0-93EF-0D0B189D5902}"/>
              </a:ext>
            </a:extLst>
          </p:cNvPr>
          <p:cNvCxnSpPr>
            <a:cxnSpLocks/>
            <a:stCxn id="4" idx="2"/>
          </p:cNvCxnSpPr>
          <p:nvPr/>
        </p:nvCxnSpPr>
        <p:spPr>
          <a:xfrm flipH="1">
            <a:off x="6093871" y="2152353"/>
            <a:ext cx="2129" cy="21432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28" name="Straight Connector 27">
            <a:extLst>
              <a:ext uri="{FF2B5EF4-FFF2-40B4-BE49-F238E27FC236}">
                <a16:creationId xmlns:a16="http://schemas.microsoft.com/office/drawing/2014/main" id="{832474E3-3DB6-451E-B9CD-99BC7345E763}"/>
              </a:ext>
            </a:extLst>
          </p:cNvPr>
          <p:cNvCxnSpPr>
            <a:cxnSpLocks/>
          </p:cNvCxnSpPr>
          <p:nvPr/>
        </p:nvCxnSpPr>
        <p:spPr>
          <a:xfrm>
            <a:off x="2845173" y="2356092"/>
            <a:ext cx="3249444" cy="1065"/>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30" name="Straight Connector 29">
            <a:extLst>
              <a:ext uri="{FF2B5EF4-FFF2-40B4-BE49-F238E27FC236}">
                <a16:creationId xmlns:a16="http://schemas.microsoft.com/office/drawing/2014/main" id="{CD5EC4E1-FDC8-441D-A3F7-0D4203091239}"/>
              </a:ext>
            </a:extLst>
          </p:cNvPr>
          <p:cNvCxnSpPr>
            <a:cxnSpLocks/>
          </p:cNvCxnSpPr>
          <p:nvPr/>
        </p:nvCxnSpPr>
        <p:spPr>
          <a:xfrm flipH="1">
            <a:off x="2843790" y="2350235"/>
            <a:ext cx="2129" cy="21432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31" name="Straight Connector 30">
            <a:extLst>
              <a:ext uri="{FF2B5EF4-FFF2-40B4-BE49-F238E27FC236}">
                <a16:creationId xmlns:a16="http://schemas.microsoft.com/office/drawing/2014/main" id="{DAAF225E-5A3B-4443-97C4-03169467E79C}"/>
              </a:ext>
            </a:extLst>
          </p:cNvPr>
          <p:cNvCxnSpPr>
            <a:cxnSpLocks/>
          </p:cNvCxnSpPr>
          <p:nvPr/>
        </p:nvCxnSpPr>
        <p:spPr>
          <a:xfrm>
            <a:off x="6091741" y="2355559"/>
            <a:ext cx="3037019" cy="532"/>
          </a:xfrm>
          <a:prstGeom prst="line">
            <a:avLst/>
          </a:prstGeom>
          <a:ln/>
        </p:spPr>
        <p:style>
          <a:lnRef idx="3">
            <a:schemeClr val="accent3"/>
          </a:lnRef>
          <a:fillRef idx="0">
            <a:schemeClr val="accent3"/>
          </a:fillRef>
          <a:effectRef idx="2">
            <a:schemeClr val="accent3"/>
          </a:effectRef>
          <a:fontRef idx="minor">
            <a:schemeClr val="tx1"/>
          </a:fontRef>
        </p:style>
      </p:cxnSp>
      <p:pic>
        <p:nvPicPr>
          <p:cNvPr id="34" name="Picture 33">
            <a:extLst>
              <a:ext uri="{FF2B5EF4-FFF2-40B4-BE49-F238E27FC236}">
                <a16:creationId xmlns:a16="http://schemas.microsoft.com/office/drawing/2014/main" id="{B0CA37BE-2EEC-400D-B87D-F98070E338BB}"/>
              </a:ext>
            </a:extLst>
          </p:cNvPr>
          <p:cNvPicPr>
            <a:picLocks noChangeAspect="1"/>
          </p:cNvPicPr>
          <p:nvPr/>
        </p:nvPicPr>
        <p:blipFill>
          <a:blip r:embed="rId3"/>
          <a:stretch>
            <a:fillRect/>
          </a:stretch>
        </p:blipFill>
        <p:spPr>
          <a:xfrm>
            <a:off x="9113264" y="2344559"/>
            <a:ext cx="24386" cy="231668"/>
          </a:xfrm>
          <a:prstGeom prst="rect">
            <a:avLst/>
          </a:prstGeom>
        </p:spPr>
      </p:pic>
      <p:cxnSp>
        <p:nvCxnSpPr>
          <p:cNvPr id="35" name="Straight Connector 34">
            <a:extLst>
              <a:ext uri="{FF2B5EF4-FFF2-40B4-BE49-F238E27FC236}">
                <a16:creationId xmlns:a16="http://schemas.microsoft.com/office/drawing/2014/main" id="{773AB971-4F25-4C8F-9CB3-05584D9CF540}"/>
              </a:ext>
            </a:extLst>
          </p:cNvPr>
          <p:cNvCxnSpPr>
            <a:cxnSpLocks/>
          </p:cNvCxnSpPr>
          <p:nvPr/>
        </p:nvCxnSpPr>
        <p:spPr>
          <a:xfrm flipH="1">
            <a:off x="2842725" y="2883658"/>
            <a:ext cx="1065" cy="58960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37" name="Straight Connector 36">
            <a:extLst>
              <a:ext uri="{FF2B5EF4-FFF2-40B4-BE49-F238E27FC236}">
                <a16:creationId xmlns:a16="http://schemas.microsoft.com/office/drawing/2014/main" id="{1D2AA6F1-CB40-40CC-83D5-DB0566C95F22}"/>
              </a:ext>
            </a:extLst>
          </p:cNvPr>
          <p:cNvCxnSpPr>
            <a:cxnSpLocks/>
          </p:cNvCxnSpPr>
          <p:nvPr/>
        </p:nvCxnSpPr>
        <p:spPr>
          <a:xfrm>
            <a:off x="1704975" y="3473800"/>
            <a:ext cx="1138815" cy="533"/>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39" name="Straight Connector 38">
            <a:extLst>
              <a:ext uri="{FF2B5EF4-FFF2-40B4-BE49-F238E27FC236}">
                <a16:creationId xmlns:a16="http://schemas.microsoft.com/office/drawing/2014/main" id="{E7027832-5247-44BA-A6E4-983F7D9319D7}"/>
              </a:ext>
            </a:extLst>
          </p:cNvPr>
          <p:cNvCxnSpPr>
            <a:cxnSpLocks/>
          </p:cNvCxnSpPr>
          <p:nvPr/>
        </p:nvCxnSpPr>
        <p:spPr>
          <a:xfrm>
            <a:off x="2842725" y="3471808"/>
            <a:ext cx="1138815" cy="533"/>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0" name="Straight Connector 39">
            <a:extLst>
              <a:ext uri="{FF2B5EF4-FFF2-40B4-BE49-F238E27FC236}">
                <a16:creationId xmlns:a16="http://schemas.microsoft.com/office/drawing/2014/main" id="{774B8AA5-3788-4DCE-BDEB-5D9FE2E3B35B}"/>
              </a:ext>
            </a:extLst>
          </p:cNvPr>
          <p:cNvCxnSpPr>
            <a:cxnSpLocks/>
          </p:cNvCxnSpPr>
          <p:nvPr/>
        </p:nvCxnSpPr>
        <p:spPr>
          <a:xfrm flipH="1">
            <a:off x="1714500" y="3466841"/>
            <a:ext cx="532" cy="24116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2" name="Straight Connector 41">
            <a:extLst>
              <a:ext uri="{FF2B5EF4-FFF2-40B4-BE49-F238E27FC236}">
                <a16:creationId xmlns:a16="http://schemas.microsoft.com/office/drawing/2014/main" id="{3EC1776A-548C-48FE-8008-84ED46BF5589}"/>
              </a:ext>
            </a:extLst>
          </p:cNvPr>
          <p:cNvCxnSpPr>
            <a:cxnSpLocks/>
          </p:cNvCxnSpPr>
          <p:nvPr/>
        </p:nvCxnSpPr>
        <p:spPr>
          <a:xfrm flipH="1">
            <a:off x="3981540" y="3464703"/>
            <a:ext cx="532" cy="24116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3" name="Straight Connector 42">
            <a:extLst>
              <a:ext uri="{FF2B5EF4-FFF2-40B4-BE49-F238E27FC236}">
                <a16:creationId xmlns:a16="http://schemas.microsoft.com/office/drawing/2014/main" id="{6320200B-466B-4EC9-858F-E9F90757A6C9}"/>
              </a:ext>
            </a:extLst>
          </p:cNvPr>
          <p:cNvCxnSpPr>
            <a:cxnSpLocks/>
          </p:cNvCxnSpPr>
          <p:nvPr/>
        </p:nvCxnSpPr>
        <p:spPr>
          <a:xfrm flipH="1">
            <a:off x="1703910" y="4389696"/>
            <a:ext cx="1065" cy="58960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4" name="Straight Connector 43">
            <a:extLst>
              <a:ext uri="{FF2B5EF4-FFF2-40B4-BE49-F238E27FC236}">
                <a16:creationId xmlns:a16="http://schemas.microsoft.com/office/drawing/2014/main" id="{8B33DDB5-3F62-441E-9ED9-2ABE77C4295C}"/>
              </a:ext>
            </a:extLst>
          </p:cNvPr>
          <p:cNvCxnSpPr>
            <a:cxnSpLocks/>
          </p:cNvCxnSpPr>
          <p:nvPr/>
        </p:nvCxnSpPr>
        <p:spPr>
          <a:xfrm flipH="1">
            <a:off x="3980475" y="4429724"/>
            <a:ext cx="1065" cy="58960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5" name="Straight Connector 44">
            <a:extLst>
              <a:ext uri="{FF2B5EF4-FFF2-40B4-BE49-F238E27FC236}">
                <a16:creationId xmlns:a16="http://schemas.microsoft.com/office/drawing/2014/main" id="{8ADC8C23-1A1D-4FFF-B4C0-9B1D661399D7}"/>
              </a:ext>
            </a:extLst>
          </p:cNvPr>
          <p:cNvCxnSpPr>
            <a:cxnSpLocks/>
          </p:cNvCxnSpPr>
          <p:nvPr/>
        </p:nvCxnSpPr>
        <p:spPr>
          <a:xfrm rot="16200000" flipH="1">
            <a:off x="3685138" y="4714949"/>
            <a:ext cx="1065" cy="58960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6" name="Straight Connector 45">
            <a:extLst>
              <a:ext uri="{FF2B5EF4-FFF2-40B4-BE49-F238E27FC236}">
                <a16:creationId xmlns:a16="http://schemas.microsoft.com/office/drawing/2014/main" id="{76C271D3-D984-4A3C-A04F-9DAA77B07783}"/>
              </a:ext>
            </a:extLst>
          </p:cNvPr>
          <p:cNvCxnSpPr>
            <a:cxnSpLocks/>
          </p:cNvCxnSpPr>
          <p:nvPr/>
        </p:nvCxnSpPr>
        <p:spPr>
          <a:xfrm rot="16200000" flipH="1">
            <a:off x="4261154" y="4715284"/>
            <a:ext cx="1065" cy="589609"/>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47" name="Straight Connector 46">
            <a:extLst>
              <a:ext uri="{FF2B5EF4-FFF2-40B4-BE49-F238E27FC236}">
                <a16:creationId xmlns:a16="http://schemas.microsoft.com/office/drawing/2014/main" id="{7FFDDCC3-5FF6-4055-A8C7-B0504C60C2D0}"/>
              </a:ext>
            </a:extLst>
          </p:cNvPr>
          <p:cNvCxnSpPr>
            <a:cxnSpLocks/>
          </p:cNvCxnSpPr>
          <p:nvPr/>
        </p:nvCxnSpPr>
        <p:spPr>
          <a:xfrm flipH="1">
            <a:off x="4549137" y="5001600"/>
            <a:ext cx="266" cy="180067"/>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0" name="Straight Connector 49">
            <a:extLst>
              <a:ext uri="{FF2B5EF4-FFF2-40B4-BE49-F238E27FC236}">
                <a16:creationId xmlns:a16="http://schemas.microsoft.com/office/drawing/2014/main" id="{F945AE15-429D-495D-8314-FE7CC381AD60}"/>
              </a:ext>
            </a:extLst>
          </p:cNvPr>
          <p:cNvCxnSpPr>
            <a:cxnSpLocks/>
          </p:cNvCxnSpPr>
          <p:nvPr/>
        </p:nvCxnSpPr>
        <p:spPr>
          <a:xfrm flipH="1">
            <a:off x="3385853" y="5002125"/>
            <a:ext cx="266" cy="180067"/>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1" name="Straight Connector 50">
            <a:extLst>
              <a:ext uri="{FF2B5EF4-FFF2-40B4-BE49-F238E27FC236}">
                <a16:creationId xmlns:a16="http://schemas.microsoft.com/office/drawing/2014/main" id="{372029B3-F52B-4394-ADF8-1C30746721CB}"/>
              </a:ext>
            </a:extLst>
          </p:cNvPr>
          <p:cNvCxnSpPr>
            <a:cxnSpLocks/>
          </p:cNvCxnSpPr>
          <p:nvPr/>
        </p:nvCxnSpPr>
        <p:spPr>
          <a:xfrm flipH="1">
            <a:off x="4554989" y="5704435"/>
            <a:ext cx="266" cy="200278"/>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4" name="Straight Connector 53">
            <a:extLst>
              <a:ext uri="{FF2B5EF4-FFF2-40B4-BE49-F238E27FC236}">
                <a16:creationId xmlns:a16="http://schemas.microsoft.com/office/drawing/2014/main" id="{84A4077B-DBCD-42D3-BA40-5146CC5A5F1F}"/>
              </a:ext>
            </a:extLst>
          </p:cNvPr>
          <p:cNvCxnSpPr>
            <a:cxnSpLocks/>
          </p:cNvCxnSpPr>
          <p:nvPr/>
        </p:nvCxnSpPr>
        <p:spPr>
          <a:xfrm flipH="1">
            <a:off x="9125990" y="2985577"/>
            <a:ext cx="533" cy="486231"/>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6" name="Straight Connector 55">
            <a:extLst>
              <a:ext uri="{FF2B5EF4-FFF2-40B4-BE49-F238E27FC236}">
                <a16:creationId xmlns:a16="http://schemas.microsoft.com/office/drawing/2014/main" id="{45B37644-5F6F-483B-BF8E-000313A9B303}"/>
              </a:ext>
            </a:extLst>
          </p:cNvPr>
          <p:cNvCxnSpPr>
            <a:cxnSpLocks/>
          </p:cNvCxnSpPr>
          <p:nvPr/>
        </p:nvCxnSpPr>
        <p:spPr>
          <a:xfrm>
            <a:off x="7726680" y="3470727"/>
            <a:ext cx="1410970" cy="267"/>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8" name="Straight Connector 57">
            <a:extLst>
              <a:ext uri="{FF2B5EF4-FFF2-40B4-BE49-F238E27FC236}">
                <a16:creationId xmlns:a16="http://schemas.microsoft.com/office/drawing/2014/main" id="{B2F61D7B-57CD-440A-8899-1A8BB17AC1D0}"/>
              </a:ext>
            </a:extLst>
          </p:cNvPr>
          <p:cNvCxnSpPr>
            <a:cxnSpLocks/>
          </p:cNvCxnSpPr>
          <p:nvPr/>
        </p:nvCxnSpPr>
        <p:spPr>
          <a:xfrm>
            <a:off x="9125457" y="3472056"/>
            <a:ext cx="1080300" cy="133"/>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60" name="Straight Connector 59">
            <a:extLst>
              <a:ext uri="{FF2B5EF4-FFF2-40B4-BE49-F238E27FC236}">
                <a16:creationId xmlns:a16="http://schemas.microsoft.com/office/drawing/2014/main" id="{121583C4-0841-4C3A-9045-4DC439CBF657}"/>
              </a:ext>
            </a:extLst>
          </p:cNvPr>
          <p:cNvCxnSpPr>
            <a:cxnSpLocks/>
          </p:cNvCxnSpPr>
          <p:nvPr/>
        </p:nvCxnSpPr>
        <p:spPr>
          <a:xfrm flipH="1">
            <a:off x="10197871" y="3468419"/>
            <a:ext cx="266" cy="230644"/>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62" name="Straight Connector 61">
            <a:extLst>
              <a:ext uri="{FF2B5EF4-FFF2-40B4-BE49-F238E27FC236}">
                <a16:creationId xmlns:a16="http://schemas.microsoft.com/office/drawing/2014/main" id="{99909881-0937-4646-8C8B-62836C9A3D7B}"/>
              </a:ext>
            </a:extLst>
          </p:cNvPr>
          <p:cNvCxnSpPr>
            <a:cxnSpLocks/>
          </p:cNvCxnSpPr>
          <p:nvPr/>
        </p:nvCxnSpPr>
        <p:spPr>
          <a:xfrm flipH="1">
            <a:off x="7734034" y="3467599"/>
            <a:ext cx="266" cy="230644"/>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63" name="Straight Connector 62">
            <a:extLst>
              <a:ext uri="{FF2B5EF4-FFF2-40B4-BE49-F238E27FC236}">
                <a16:creationId xmlns:a16="http://schemas.microsoft.com/office/drawing/2014/main" id="{828B7239-5400-4CD4-9E9B-88C82714B005}"/>
              </a:ext>
            </a:extLst>
          </p:cNvPr>
          <p:cNvCxnSpPr>
            <a:cxnSpLocks/>
          </p:cNvCxnSpPr>
          <p:nvPr/>
        </p:nvCxnSpPr>
        <p:spPr>
          <a:xfrm flipH="1">
            <a:off x="10206024" y="4100652"/>
            <a:ext cx="267" cy="623876"/>
          </a:xfrm>
          <a:prstGeom prst="line">
            <a:avLst/>
          </a:prstGeom>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407099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righ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up)">
                                      <p:cBhvr>
                                        <p:cTn id="24" dur="500"/>
                                        <p:tgtEl>
                                          <p:spTgt spid="26"/>
                                        </p:tgtEl>
                                      </p:cBhvr>
                                    </p:animEffect>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right)">
                                      <p:cBhvr>
                                        <p:cTn id="28" dur="500"/>
                                        <p:tgtEl>
                                          <p:spTgt spid="28"/>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up)">
                                      <p:cBhvr>
                                        <p:cTn id="32" dur="500"/>
                                        <p:tgtEl>
                                          <p:spTgt spid="30"/>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childTnLst>
                          </p:cTn>
                        </p:par>
                        <p:par>
                          <p:cTn id="41" fill="hold">
                            <p:stCondLst>
                              <p:cond delay="2500"/>
                            </p:stCondLst>
                            <p:childTnLst>
                              <p:par>
                                <p:cTn id="42" presetID="22" presetClass="entr" presetSubtype="1" fill="hold"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up)">
                                      <p:cBhvr>
                                        <p:cTn id="44" dur="500"/>
                                        <p:tgtEl>
                                          <p:spTgt spid="34"/>
                                        </p:tgtEl>
                                      </p:cBhvr>
                                    </p:animEffect>
                                  </p:childTnLst>
                                </p:cTn>
                              </p:par>
                            </p:childTnLst>
                          </p:cTn>
                        </p:par>
                        <p:par>
                          <p:cTn id="45" fill="hold">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par>
                          <p:cTn id="49" fill="hold">
                            <p:stCondLst>
                              <p:cond delay="3500"/>
                            </p:stCondLst>
                            <p:childTnLst>
                              <p:par>
                                <p:cTn id="50" presetID="10" presetClass="entr" presetSubtype="0"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up)">
                                      <p:cBhvr>
                                        <p:cTn id="57" dur="500"/>
                                        <p:tgtEl>
                                          <p:spTgt spid="35"/>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up)">
                                      <p:cBhvr>
                                        <p:cTn id="61" dur="500"/>
                                        <p:tgtEl>
                                          <p:spTgt spid="37"/>
                                        </p:tgtEl>
                                      </p:cBhvr>
                                    </p:animEffect>
                                  </p:childTnLst>
                                </p:cTn>
                              </p:par>
                            </p:childTnLst>
                          </p:cTn>
                        </p:par>
                        <p:par>
                          <p:cTn id="62" fill="hold">
                            <p:stCondLst>
                              <p:cond delay="1000"/>
                            </p:stCondLst>
                            <p:childTnLst>
                              <p:par>
                                <p:cTn id="63" presetID="22" presetClass="entr" presetSubtype="1" fill="hold"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wipe(up)">
                                      <p:cBhvr>
                                        <p:cTn id="65" dur="500"/>
                                        <p:tgtEl>
                                          <p:spTgt spid="39"/>
                                        </p:tgtEl>
                                      </p:cBhvr>
                                    </p:animEffect>
                                  </p:childTnLst>
                                </p:cTn>
                              </p:par>
                            </p:childTnLst>
                          </p:cTn>
                        </p:par>
                        <p:par>
                          <p:cTn id="66" fill="hold">
                            <p:stCondLst>
                              <p:cond delay="1500"/>
                            </p:stCondLst>
                            <p:childTnLst>
                              <p:par>
                                <p:cTn id="67" presetID="22" presetClass="entr" presetSubtype="1" fill="hold" nodeType="after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up)">
                                      <p:cBhvr>
                                        <p:cTn id="69" dur="500"/>
                                        <p:tgtEl>
                                          <p:spTgt spid="40"/>
                                        </p:tgtEl>
                                      </p:cBhvr>
                                    </p:animEffect>
                                  </p:childTnLst>
                                </p:cTn>
                              </p:par>
                            </p:childTnLst>
                          </p:cTn>
                        </p:par>
                        <p:par>
                          <p:cTn id="70" fill="hold">
                            <p:stCondLst>
                              <p:cond delay="2000"/>
                            </p:stCondLst>
                            <p:childTnLst>
                              <p:par>
                                <p:cTn id="71" presetID="22" presetClass="entr" presetSubtype="1" fill="hold" nodeType="after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wipe(up)">
                                      <p:cBhvr>
                                        <p:cTn id="73" dur="500"/>
                                        <p:tgtEl>
                                          <p:spTgt spid="42"/>
                                        </p:tgtEl>
                                      </p:cBhvr>
                                    </p:animEffect>
                                  </p:childTnLst>
                                </p:cTn>
                              </p:par>
                            </p:childTnLst>
                          </p:cTn>
                        </p:par>
                        <p:par>
                          <p:cTn id="74" fill="hold">
                            <p:stCondLst>
                              <p:cond delay="2500"/>
                            </p:stCondLst>
                            <p:childTnLst>
                              <p:par>
                                <p:cTn id="75" presetID="10" presetClass="entr" presetSubtype="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childTnLst>
                                </p:cTn>
                              </p:par>
                            </p:childTnLst>
                          </p:cTn>
                        </p:par>
                        <p:par>
                          <p:cTn id="78" fill="hold">
                            <p:stCondLst>
                              <p:cond delay="3000"/>
                            </p:stCondLst>
                            <p:childTnLst>
                              <p:par>
                                <p:cTn id="79" presetID="10" presetClass="entr" presetSubtype="0" fill="hold" grpId="0" nodeType="after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wipe(up)">
                                      <p:cBhvr>
                                        <p:cTn id="86" dur="500"/>
                                        <p:tgtEl>
                                          <p:spTgt spid="43"/>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wipe(up)">
                                      <p:cBhvr>
                                        <p:cTn id="91" dur="500"/>
                                        <p:tgtEl>
                                          <p:spTgt spid="44"/>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childTnLst>
                          </p:cTn>
                        </p:par>
                        <p:par>
                          <p:cTn id="96" fill="hold">
                            <p:stCondLst>
                              <p:cond delay="1000"/>
                            </p:stCondLst>
                            <p:childTnLst>
                              <p:par>
                                <p:cTn id="97" presetID="22" presetClass="entr" presetSubtype="2" fill="hold" nodeType="after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right)">
                                      <p:cBhvr>
                                        <p:cTn id="99" dur="500"/>
                                        <p:tgtEl>
                                          <p:spTgt spid="45"/>
                                        </p:tgtEl>
                                      </p:cBhvr>
                                    </p:animEffect>
                                  </p:childTnLst>
                                </p:cTn>
                              </p:par>
                            </p:childTnLst>
                          </p:cTn>
                        </p:par>
                        <p:par>
                          <p:cTn id="100" fill="hold">
                            <p:stCondLst>
                              <p:cond delay="1500"/>
                            </p:stCondLst>
                            <p:childTnLst>
                              <p:par>
                                <p:cTn id="101" presetID="22" presetClass="entr" presetSubtype="8" fill="hold" nodeType="after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wipe(left)">
                                      <p:cBhvr>
                                        <p:cTn id="103" dur="500"/>
                                        <p:tgtEl>
                                          <p:spTgt spid="46"/>
                                        </p:tgtEl>
                                      </p:cBhvr>
                                    </p:animEffect>
                                  </p:childTnLst>
                                </p:cTn>
                              </p:par>
                            </p:childTnLst>
                          </p:cTn>
                        </p:par>
                        <p:par>
                          <p:cTn id="104" fill="hold">
                            <p:stCondLst>
                              <p:cond delay="2000"/>
                            </p:stCondLst>
                            <p:childTnLst>
                              <p:par>
                                <p:cTn id="105" presetID="22" presetClass="entr" presetSubtype="8" fill="hold" nodeType="after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wipe(left)">
                                      <p:cBhvr>
                                        <p:cTn id="107" dur="500"/>
                                        <p:tgtEl>
                                          <p:spTgt spid="47"/>
                                        </p:tgtEl>
                                      </p:cBhvr>
                                    </p:animEffect>
                                  </p:childTnLst>
                                </p:cTn>
                              </p:par>
                            </p:childTnLst>
                          </p:cTn>
                        </p:par>
                        <p:par>
                          <p:cTn id="108" fill="hold">
                            <p:stCondLst>
                              <p:cond delay="2500"/>
                            </p:stCondLst>
                            <p:childTnLst>
                              <p:par>
                                <p:cTn id="109" presetID="22" presetClass="entr" presetSubtype="1" fill="hold" nodeType="afterEffect">
                                  <p:stCondLst>
                                    <p:cond delay="0"/>
                                  </p:stCondLst>
                                  <p:childTnLst>
                                    <p:set>
                                      <p:cBhvr>
                                        <p:cTn id="110" dur="1" fill="hold">
                                          <p:stCondLst>
                                            <p:cond delay="0"/>
                                          </p:stCondLst>
                                        </p:cTn>
                                        <p:tgtEl>
                                          <p:spTgt spid="50"/>
                                        </p:tgtEl>
                                        <p:attrNameLst>
                                          <p:attrName>style.visibility</p:attrName>
                                        </p:attrNameLst>
                                      </p:cBhvr>
                                      <p:to>
                                        <p:strVal val="visible"/>
                                      </p:to>
                                    </p:set>
                                    <p:animEffect transition="in" filter="wipe(up)">
                                      <p:cBhvr>
                                        <p:cTn id="111" dur="500"/>
                                        <p:tgtEl>
                                          <p:spTgt spid="50"/>
                                        </p:tgtEl>
                                      </p:cBhvr>
                                    </p:animEffect>
                                  </p:childTnLst>
                                </p:cTn>
                              </p:par>
                            </p:childTnLst>
                          </p:cTn>
                        </p:par>
                        <p:par>
                          <p:cTn id="112" fill="hold">
                            <p:stCondLst>
                              <p:cond delay="3000"/>
                            </p:stCondLst>
                            <p:childTnLst>
                              <p:par>
                                <p:cTn id="113" presetID="10" presetClass="entr" presetSubtype="0" fill="hold" grpId="0" nodeType="afterEffect">
                                  <p:stCondLst>
                                    <p:cond delay="0"/>
                                  </p:stCondLst>
                                  <p:childTnLst>
                                    <p:set>
                                      <p:cBhvr>
                                        <p:cTn id="114" dur="1" fill="hold">
                                          <p:stCondLst>
                                            <p:cond delay="0"/>
                                          </p:stCondLst>
                                        </p:cTn>
                                        <p:tgtEl>
                                          <p:spTgt spid="19"/>
                                        </p:tgtEl>
                                        <p:attrNameLst>
                                          <p:attrName>style.visibility</p:attrName>
                                        </p:attrNameLst>
                                      </p:cBhvr>
                                      <p:to>
                                        <p:strVal val="visible"/>
                                      </p:to>
                                    </p:set>
                                    <p:animEffect transition="in" filter="fade">
                                      <p:cBhvr>
                                        <p:cTn id="115" dur="500"/>
                                        <p:tgtEl>
                                          <p:spTgt spid="19"/>
                                        </p:tgtEl>
                                      </p:cBhvr>
                                    </p:animEffect>
                                  </p:childTnLst>
                                </p:cTn>
                              </p:par>
                            </p:childTnLst>
                          </p:cTn>
                        </p:par>
                        <p:par>
                          <p:cTn id="116" fill="hold">
                            <p:stCondLst>
                              <p:cond delay="3500"/>
                            </p:stCondLst>
                            <p:childTnLst>
                              <p:par>
                                <p:cTn id="117" presetID="10" presetClass="entr" presetSubtype="0" fill="hold" grpId="0" nodeType="afterEffect">
                                  <p:stCondLst>
                                    <p:cond delay="0"/>
                                  </p:stCondLst>
                                  <p:childTnLst>
                                    <p:set>
                                      <p:cBhvr>
                                        <p:cTn id="118" dur="1" fill="hold">
                                          <p:stCondLst>
                                            <p:cond delay="0"/>
                                          </p:stCondLst>
                                        </p:cTn>
                                        <p:tgtEl>
                                          <p:spTgt spid="20"/>
                                        </p:tgtEl>
                                        <p:attrNameLst>
                                          <p:attrName>style.visibility</p:attrName>
                                        </p:attrNameLst>
                                      </p:cBhvr>
                                      <p:to>
                                        <p:strVal val="visible"/>
                                      </p:to>
                                    </p:set>
                                    <p:animEffect transition="in" filter="fade">
                                      <p:cBhvr>
                                        <p:cTn id="119" dur="500"/>
                                        <p:tgtEl>
                                          <p:spTgt spid="20"/>
                                        </p:tgtEl>
                                      </p:cBhvr>
                                    </p:animEffect>
                                  </p:childTnLst>
                                </p:cTn>
                              </p:par>
                            </p:childTnLst>
                          </p:cTn>
                        </p:par>
                        <p:par>
                          <p:cTn id="120" fill="hold">
                            <p:stCondLst>
                              <p:cond delay="4000"/>
                            </p:stCondLst>
                            <p:childTnLst>
                              <p:par>
                                <p:cTn id="121" presetID="22" presetClass="entr" presetSubtype="1" fill="hold" nodeType="after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wipe(up)">
                                      <p:cBhvr>
                                        <p:cTn id="123" dur="500"/>
                                        <p:tgtEl>
                                          <p:spTgt spid="51"/>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1"/>
                                        </p:tgtEl>
                                        <p:attrNameLst>
                                          <p:attrName>style.visibility</p:attrName>
                                        </p:attrNameLst>
                                      </p:cBhvr>
                                      <p:to>
                                        <p:strVal val="visible"/>
                                      </p:to>
                                    </p:set>
                                    <p:animEffect transition="in" filter="fade">
                                      <p:cBhvr>
                                        <p:cTn id="128" dur="500"/>
                                        <p:tgtEl>
                                          <p:spTgt spid="2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up)">
                                      <p:cBhvr>
                                        <p:cTn id="133" dur="500"/>
                                        <p:tgtEl>
                                          <p:spTgt spid="54"/>
                                        </p:tgtEl>
                                      </p:cBhvr>
                                    </p:animEffect>
                                  </p:childTnLst>
                                </p:cTn>
                              </p:par>
                            </p:childTnLst>
                          </p:cTn>
                        </p:par>
                        <p:par>
                          <p:cTn id="134" fill="hold">
                            <p:stCondLst>
                              <p:cond delay="500"/>
                            </p:stCondLst>
                            <p:childTnLst>
                              <p:par>
                                <p:cTn id="135" presetID="22" presetClass="entr" presetSubtype="1" fill="hold" nodeType="after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wipe(up)">
                                      <p:cBhvr>
                                        <p:cTn id="137" dur="500"/>
                                        <p:tgtEl>
                                          <p:spTgt spid="56"/>
                                        </p:tgtEl>
                                      </p:cBhvr>
                                    </p:animEffect>
                                  </p:childTnLst>
                                </p:cTn>
                              </p:par>
                            </p:childTnLst>
                          </p:cTn>
                        </p:par>
                        <p:par>
                          <p:cTn id="138" fill="hold">
                            <p:stCondLst>
                              <p:cond delay="1000"/>
                            </p:stCondLst>
                            <p:childTnLst>
                              <p:par>
                                <p:cTn id="139" presetID="22" presetClass="entr" presetSubtype="1" fill="hold" nodeType="afterEffect">
                                  <p:stCondLst>
                                    <p:cond delay="0"/>
                                  </p:stCondLst>
                                  <p:childTnLst>
                                    <p:set>
                                      <p:cBhvr>
                                        <p:cTn id="140" dur="1" fill="hold">
                                          <p:stCondLst>
                                            <p:cond delay="0"/>
                                          </p:stCondLst>
                                        </p:cTn>
                                        <p:tgtEl>
                                          <p:spTgt spid="58"/>
                                        </p:tgtEl>
                                        <p:attrNameLst>
                                          <p:attrName>style.visibility</p:attrName>
                                        </p:attrNameLst>
                                      </p:cBhvr>
                                      <p:to>
                                        <p:strVal val="visible"/>
                                      </p:to>
                                    </p:set>
                                    <p:animEffect transition="in" filter="wipe(up)">
                                      <p:cBhvr>
                                        <p:cTn id="141" dur="500"/>
                                        <p:tgtEl>
                                          <p:spTgt spid="58"/>
                                        </p:tgtEl>
                                      </p:cBhvr>
                                    </p:animEffect>
                                  </p:childTnLst>
                                </p:cTn>
                              </p:par>
                            </p:childTnLst>
                          </p:cTn>
                        </p:par>
                        <p:par>
                          <p:cTn id="142" fill="hold">
                            <p:stCondLst>
                              <p:cond delay="1500"/>
                            </p:stCondLst>
                            <p:childTnLst>
                              <p:par>
                                <p:cTn id="143" presetID="22" presetClass="entr" presetSubtype="1" fill="hold" nodeType="after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wipe(up)">
                                      <p:cBhvr>
                                        <p:cTn id="145" dur="500"/>
                                        <p:tgtEl>
                                          <p:spTgt spid="60"/>
                                        </p:tgtEl>
                                      </p:cBhvr>
                                    </p:animEffect>
                                  </p:childTnLst>
                                </p:cTn>
                              </p:par>
                            </p:childTnLst>
                          </p:cTn>
                        </p:par>
                        <p:par>
                          <p:cTn id="146" fill="hold">
                            <p:stCondLst>
                              <p:cond delay="2000"/>
                            </p:stCondLst>
                            <p:childTnLst>
                              <p:par>
                                <p:cTn id="147" presetID="22" presetClass="entr" presetSubtype="1" fill="hold" nodeType="afterEffect">
                                  <p:stCondLst>
                                    <p:cond delay="0"/>
                                  </p:stCondLst>
                                  <p:childTnLst>
                                    <p:set>
                                      <p:cBhvr>
                                        <p:cTn id="148" dur="1" fill="hold">
                                          <p:stCondLst>
                                            <p:cond delay="0"/>
                                          </p:stCondLst>
                                        </p:cTn>
                                        <p:tgtEl>
                                          <p:spTgt spid="62"/>
                                        </p:tgtEl>
                                        <p:attrNameLst>
                                          <p:attrName>style.visibility</p:attrName>
                                        </p:attrNameLst>
                                      </p:cBhvr>
                                      <p:to>
                                        <p:strVal val="visible"/>
                                      </p:to>
                                    </p:set>
                                    <p:animEffect transition="in" filter="wipe(up)">
                                      <p:cBhvr>
                                        <p:cTn id="149" dur="500"/>
                                        <p:tgtEl>
                                          <p:spTgt spid="62"/>
                                        </p:tgtEl>
                                      </p:cBhvr>
                                    </p:animEffect>
                                  </p:childTnLst>
                                </p:cTn>
                              </p:par>
                            </p:childTnLst>
                          </p:cTn>
                        </p:par>
                        <p:par>
                          <p:cTn id="150" fill="hold">
                            <p:stCondLst>
                              <p:cond delay="2500"/>
                            </p:stCondLst>
                            <p:childTnLst>
                              <p:par>
                                <p:cTn id="151" presetID="10" presetClass="entr" presetSubtype="0" fill="hold" grpId="0" nodeType="afterEffect">
                                  <p:stCondLst>
                                    <p:cond delay="0"/>
                                  </p:stCondLst>
                                  <p:childTnLst>
                                    <p:set>
                                      <p:cBhvr>
                                        <p:cTn id="152" dur="1" fill="hold">
                                          <p:stCondLst>
                                            <p:cond delay="0"/>
                                          </p:stCondLst>
                                        </p:cTn>
                                        <p:tgtEl>
                                          <p:spTgt spid="22"/>
                                        </p:tgtEl>
                                        <p:attrNameLst>
                                          <p:attrName>style.visibility</p:attrName>
                                        </p:attrNameLst>
                                      </p:cBhvr>
                                      <p:to>
                                        <p:strVal val="visible"/>
                                      </p:to>
                                    </p:set>
                                    <p:animEffect transition="in" filter="fade">
                                      <p:cBhvr>
                                        <p:cTn id="153" dur="500"/>
                                        <p:tgtEl>
                                          <p:spTgt spid="22"/>
                                        </p:tgtEl>
                                      </p:cBhvr>
                                    </p:animEffect>
                                  </p:childTnLst>
                                </p:cTn>
                              </p:par>
                            </p:childTnLst>
                          </p:cTn>
                        </p:par>
                        <p:par>
                          <p:cTn id="154" fill="hold">
                            <p:stCondLst>
                              <p:cond delay="3000"/>
                            </p:stCondLst>
                            <p:childTnLst>
                              <p:par>
                                <p:cTn id="155" presetID="10" presetClass="entr" presetSubtype="0" fill="hold" grpId="0" nodeType="afterEffect">
                                  <p:stCondLst>
                                    <p:cond delay="0"/>
                                  </p:stCondLst>
                                  <p:childTnLst>
                                    <p:set>
                                      <p:cBhvr>
                                        <p:cTn id="156" dur="1" fill="hold">
                                          <p:stCondLst>
                                            <p:cond delay="0"/>
                                          </p:stCondLst>
                                        </p:cTn>
                                        <p:tgtEl>
                                          <p:spTgt spid="23"/>
                                        </p:tgtEl>
                                        <p:attrNameLst>
                                          <p:attrName>style.visibility</p:attrName>
                                        </p:attrNameLst>
                                      </p:cBhvr>
                                      <p:to>
                                        <p:strVal val="visible"/>
                                      </p:to>
                                    </p:set>
                                    <p:animEffect transition="in" filter="fade">
                                      <p:cBhvr>
                                        <p:cTn id="157" dur="500"/>
                                        <p:tgtEl>
                                          <p:spTgt spid="23"/>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1" fill="hold" nodeType="clickEffect">
                                  <p:stCondLst>
                                    <p:cond delay="0"/>
                                  </p:stCondLst>
                                  <p:childTnLst>
                                    <p:set>
                                      <p:cBhvr>
                                        <p:cTn id="161" dur="1" fill="hold">
                                          <p:stCondLst>
                                            <p:cond delay="0"/>
                                          </p:stCondLst>
                                        </p:cTn>
                                        <p:tgtEl>
                                          <p:spTgt spid="63"/>
                                        </p:tgtEl>
                                        <p:attrNameLst>
                                          <p:attrName>style.visibility</p:attrName>
                                        </p:attrNameLst>
                                      </p:cBhvr>
                                      <p:to>
                                        <p:strVal val="visible"/>
                                      </p:to>
                                    </p:set>
                                    <p:animEffect transition="in" filter="wipe(up)">
                                      <p:cBhvr>
                                        <p:cTn id="162" dur="500"/>
                                        <p:tgtEl>
                                          <p:spTgt spid="63"/>
                                        </p:tgtEl>
                                      </p:cBhvr>
                                    </p:animEffec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24"/>
                                        </p:tgtEl>
                                        <p:attrNameLst>
                                          <p:attrName>style.visibility</p:attrName>
                                        </p:attrNameLst>
                                      </p:cBhvr>
                                      <p:to>
                                        <p:strVal val="visible"/>
                                      </p:to>
                                    </p:set>
                                    <p:animEffect transition="in" filter="fade">
                                      <p:cBhvr>
                                        <p:cTn id="16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19FAE-EB0C-4C01-A648-EA2461D5993A}"/>
              </a:ext>
            </a:extLst>
          </p:cNvPr>
          <p:cNvSpPr>
            <a:spLocks noGrp="1"/>
          </p:cNvSpPr>
          <p:nvPr>
            <p:ph type="title"/>
          </p:nvPr>
        </p:nvSpPr>
        <p:spPr/>
        <p:txBody>
          <a:bodyPr/>
          <a:lstStyle/>
          <a:p>
            <a:r>
              <a:rPr lang="en-CA" dirty="0"/>
              <a:t>LR(0) Parser</a:t>
            </a:r>
          </a:p>
        </p:txBody>
      </p:sp>
      <p:sp>
        <p:nvSpPr>
          <p:cNvPr id="3" name="Content Placeholder 2">
            <a:extLst>
              <a:ext uri="{FF2B5EF4-FFF2-40B4-BE49-F238E27FC236}">
                <a16:creationId xmlns:a16="http://schemas.microsoft.com/office/drawing/2014/main" id="{F173FF6C-9A25-4C57-B624-C1C89E8E89B2}"/>
              </a:ext>
            </a:extLst>
          </p:cNvPr>
          <p:cNvSpPr>
            <a:spLocks noGrp="1"/>
          </p:cNvSpPr>
          <p:nvPr>
            <p:ph idx="1"/>
          </p:nvPr>
        </p:nvSpPr>
        <p:spPr/>
        <p:txBody>
          <a:bodyPr/>
          <a:lstStyle/>
          <a:p>
            <a:r>
              <a:rPr lang="en-CA" dirty="0"/>
              <a:t>Step 1: Augment the Grammar and number/label it</a:t>
            </a:r>
          </a:p>
          <a:p>
            <a:r>
              <a:rPr lang="en-CA" dirty="0"/>
              <a:t>Step 2: Draw DFA Diagram</a:t>
            </a:r>
          </a:p>
          <a:p>
            <a:r>
              <a:rPr lang="en-CA" dirty="0"/>
              <a:t>Step 3: Parsing Table</a:t>
            </a:r>
          </a:p>
          <a:p>
            <a:r>
              <a:rPr lang="en-CA" dirty="0"/>
              <a:t>Step 4: Stack Implementation</a:t>
            </a:r>
          </a:p>
          <a:p>
            <a:r>
              <a:rPr lang="en-CA" dirty="0"/>
              <a:t>Step 5: Parse Tree</a:t>
            </a:r>
          </a:p>
        </p:txBody>
      </p:sp>
    </p:spTree>
    <p:extLst>
      <p:ext uri="{BB962C8B-B14F-4D97-AF65-F5344CB8AC3E}">
        <p14:creationId xmlns:p14="http://schemas.microsoft.com/office/powerpoint/2010/main" val="2933147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0FDF4-3145-4024-91D3-640233C7EB5C}"/>
              </a:ext>
            </a:extLst>
          </p:cNvPr>
          <p:cNvSpPr>
            <a:spLocks noGrp="1"/>
          </p:cNvSpPr>
          <p:nvPr>
            <p:ph type="title"/>
          </p:nvPr>
        </p:nvSpPr>
        <p:spPr/>
        <p:txBody>
          <a:bodyPr/>
          <a:lstStyle/>
          <a:p>
            <a:r>
              <a:rPr lang="en-CA" dirty="0"/>
              <a:t>Numerical</a:t>
            </a:r>
          </a:p>
        </p:txBody>
      </p:sp>
      <p:sp>
        <p:nvSpPr>
          <p:cNvPr id="3" name="Content Placeholder 2">
            <a:extLst>
              <a:ext uri="{FF2B5EF4-FFF2-40B4-BE49-F238E27FC236}">
                <a16:creationId xmlns:a16="http://schemas.microsoft.com/office/drawing/2014/main" id="{E711F361-3DC6-4CE6-85D1-411A80A5E20B}"/>
              </a:ext>
            </a:extLst>
          </p:cNvPr>
          <p:cNvSpPr>
            <a:spLocks noGrp="1"/>
          </p:cNvSpPr>
          <p:nvPr>
            <p:ph idx="1"/>
          </p:nvPr>
        </p:nvSpPr>
        <p:spPr/>
        <p:txBody>
          <a:bodyPr/>
          <a:lstStyle/>
          <a:p>
            <a:r>
              <a:rPr lang="en-CA" dirty="0"/>
              <a:t>E → BB</a:t>
            </a:r>
          </a:p>
          <a:p>
            <a:r>
              <a:rPr lang="en-CA" dirty="0"/>
              <a:t>B → </a:t>
            </a:r>
            <a:r>
              <a:rPr lang="en-CA" dirty="0" err="1"/>
              <a:t>cB</a:t>
            </a:r>
            <a:r>
              <a:rPr lang="en-CA" dirty="0"/>
              <a:t> | d</a:t>
            </a:r>
          </a:p>
          <a:p>
            <a:endParaRPr lang="en-CA" dirty="0"/>
          </a:p>
          <a:p>
            <a:r>
              <a:rPr lang="en-CA" dirty="0"/>
              <a:t>String: </a:t>
            </a:r>
            <a:r>
              <a:rPr lang="en-CA" dirty="0" err="1"/>
              <a:t>ccdd</a:t>
            </a:r>
            <a:r>
              <a:rPr lang="en-CA" dirty="0"/>
              <a:t>$</a:t>
            </a:r>
          </a:p>
          <a:p>
            <a:endParaRPr lang="en-CA" dirty="0"/>
          </a:p>
        </p:txBody>
      </p:sp>
    </p:spTree>
    <p:extLst>
      <p:ext uri="{BB962C8B-B14F-4D97-AF65-F5344CB8AC3E}">
        <p14:creationId xmlns:p14="http://schemas.microsoft.com/office/powerpoint/2010/main" val="583504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8659-3D38-4F6A-A5F7-E219C8D73FA2}"/>
              </a:ext>
            </a:extLst>
          </p:cNvPr>
          <p:cNvSpPr>
            <a:spLocks noGrp="1"/>
          </p:cNvSpPr>
          <p:nvPr>
            <p:ph type="title"/>
          </p:nvPr>
        </p:nvSpPr>
        <p:spPr/>
        <p:txBody>
          <a:bodyPr/>
          <a:lstStyle/>
          <a:p>
            <a:r>
              <a:rPr lang="en-CA" dirty="0"/>
              <a:t>Step 1: Augment and Label</a:t>
            </a:r>
          </a:p>
        </p:txBody>
      </p:sp>
      <p:sp>
        <p:nvSpPr>
          <p:cNvPr id="3" name="Content Placeholder 2">
            <a:extLst>
              <a:ext uri="{FF2B5EF4-FFF2-40B4-BE49-F238E27FC236}">
                <a16:creationId xmlns:a16="http://schemas.microsoft.com/office/drawing/2014/main" id="{4C842103-9C76-4C60-A86B-AA63A7DBFC62}"/>
              </a:ext>
            </a:extLst>
          </p:cNvPr>
          <p:cNvSpPr>
            <a:spLocks noGrp="1"/>
          </p:cNvSpPr>
          <p:nvPr>
            <p:ph sz="half" idx="1"/>
          </p:nvPr>
        </p:nvSpPr>
        <p:spPr/>
        <p:txBody>
          <a:bodyPr/>
          <a:lstStyle/>
          <a:p>
            <a:r>
              <a:rPr lang="en-CA" dirty="0"/>
              <a:t>Numerical </a:t>
            </a:r>
          </a:p>
          <a:p>
            <a:pPr lvl="1"/>
            <a:endParaRPr lang="en-CA" dirty="0"/>
          </a:p>
          <a:p>
            <a:pPr lvl="1"/>
            <a:r>
              <a:rPr lang="en-CA" dirty="0"/>
              <a:t>E → BB</a:t>
            </a:r>
          </a:p>
          <a:p>
            <a:pPr lvl="1"/>
            <a:r>
              <a:rPr lang="en-CA" dirty="0"/>
              <a:t>B → </a:t>
            </a:r>
            <a:r>
              <a:rPr lang="en-CA" dirty="0" err="1"/>
              <a:t>cB</a:t>
            </a:r>
            <a:r>
              <a:rPr lang="en-CA" dirty="0"/>
              <a:t> | d</a:t>
            </a:r>
          </a:p>
          <a:p>
            <a:endParaRPr lang="en-CA" dirty="0"/>
          </a:p>
        </p:txBody>
      </p:sp>
      <p:sp>
        <p:nvSpPr>
          <p:cNvPr id="4" name="Content Placeholder 3">
            <a:extLst>
              <a:ext uri="{FF2B5EF4-FFF2-40B4-BE49-F238E27FC236}">
                <a16:creationId xmlns:a16="http://schemas.microsoft.com/office/drawing/2014/main" id="{5C3FEF0C-B270-4B74-86E4-441633F5A47B}"/>
              </a:ext>
            </a:extLst>
          </p:cNvPr>
          <p:cNvSpPr>
            <a:spLocks noGrp="1"/>
          </p:cNvSpPr>
          <p:nvPr>
            <p:ph sz="half" idx="2"/>
          </p:nvPr>
        </p:nvSpPr>
        <p:spPr/>
        <p:txBody>
          <a:bodyPr/>
          <a:lstStyle/>
          <a:p>
            <a:r>
              <a:rPr lang="en-CA" dirty="0">
                <a:solidFill>
                  <a:srgbClr val="0070C0"/>
                </a:solidFill>
              </a:rPr>
              <a:t>Augment</a:t>
            </a:r>
            <a:r>
              <a:rPr lang="en-CA" dirty="0"/>
              <a:t> and </a:t>
            </a:r>
            <a:r>
              <a:rPr lang="en-CA" dirty="0">
                <a:solidFill>
                  <a:srgbClr val="FF0000"/>
                </a:solidFill>
              </a:rPr>
              <a:t>Label</a:t>
            </a:r>
          </a:p>
          <a:p>
            <a:pPr lvl="1">
              <a:lnSpc>
                <a:spcPct val="150000"/>
              </a:lnSpc>
            </a:pPr>
            <a:r>
              <a:rPr lang="en-CA" dirty="0">
                <a:solidFill>
                  <a:srgbClr val="0070C0"/>
                </a:solidFill>
              </a:rPr>
              <a:t>E’ → E</a:t>
            </a:r>
            <a:endParaRPr lang="en-CA" dirty="0">
              <a:solidFill>
                <a:srgbClr val="FF0000"/>
              </a:solidFill>
            </a:endParaRPr>
          </a:p>
          <a:p>
            <a:pPr lvl="1">
              <a:lnSpc>
                <a:spcPct val="150000"/>
              </a:lnSpc>
            </a:pPr>
            <a:r>
              <a:rPr lang="en-CA" dirty="0"/>
              <a:t>E → BB</a:t>
            </a:r>
          </a:p>
          <a:p>
            <a:pPr lvl="1">
              <a:lnSpc>
                <a:spcPct val="150000"/>
              </a:lnSpc>
            </a:pPr>
            <a:r>
              <a:rPr lang="en-CA" dirty="0"/>
              <a:t>B → </a:t>
            </a:r>
            <a:r>
              <a:rPr lang="en-CA" dirty="0" err="1"/>
              <a:t>cB</a:t>
            </a:r>
            <a:r>
              <a:rPr lang="en-CA" dirty="0"/>
              <a:t> | d</a:t>
            </a:r>
          </a:p>
          <a:p>
            <a:pPr>
              <a:lnSpc>
                <a:spcPct val="150000"/>
              </a:lnSpc>
            </a:pPr>
            <a:endParaRPr lang="en-CA" dirty="0"/>
          </a:p>
          <a:p>
            <a:endParaRPr lang="en-CA" dirty="0"/>
          </a:p>
        </p:txBody>
      </p:sp>
      <p:sp>
        <p:nvSpPr>
          <p:cNvPr id="6" name="Oval 5">
            <a:extLst>
              <a:ext uri="{FF2B5EF4-FFF2-40B4-BE49-F238E27FC236}">
                <a16:creationId xmlns:a16="http://schemas.microsoft.com/office/drawing/2014/main" id="{5CC61B70-A55D-45F4-9041-1EC93825F389}"/>
              </a:ext>
            </a:extLst>
          </p:cNvPr>
          <p:cNvSpPr/>
          <p:nvPr/>
        </p:nvSpPr>
        <p:spPr>
          <a:xfrm>
            <a:off x="7992978" y="4096249"/>
            <a:ext cx="393033" cy="391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latin typeface="Cambria" panose="02040503050406030204" pitchFamily="18" charset="0"/>
                <a:ea typeface="Cambria" panose="02040503050406030204" pitchFamily="18" charset="0"/>
              </a:rPr>
              <a:t>3</a:t>
            </a:r>
            <a:endParaRPr lang="en-CA" sz="2400" b="1" dirty="0">
              <a:solidFill>
                <a:srgbClr val="FF0000"/>
              </a:solidFill>
              <a:latin typeface="Cambria" panose="02040503050406030204" pitchFamily="18" charset="0"/>
              <a:ea typeface="Cambria" panose="02040503050406030204" pitchFamily="18" charset="0"/>
            </a:endParaRPr>
          </a:p>
        </p:txBody>
      </p:sp>
      <p:sp>
        <p:nvSpPr>
          <p:cNvPr id="7" name="Oval 6">
            <a:extLst>
              <a:ext uri="{FF2B5EF4-FFF2-40B4-BE49-F238E27FC236}">
                <a16:creationId xmlns:a16="http://schemas.microsoft.com/office/drawing/2014/main" id="{FF2C8C19-220B-4603-B247-27716786BD41}"/>
              </a:ext>
            </a:extLst>
          </p:cNvPr>
          <p:cNvSpPr/>
          <p:nvPr/>
        </p:nvSpPr>
        <p:spPr>
          <a:xfrm>
            <a:off x="8141366" y="2407358"/>
            <a:ext cx="393033" cy="391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latin typeface="Cambria" panose="02040503050406030204" pitchFamily="18" charset="0"/>
                <a:ea typeface="Cambria" panose="02040503050406030204" pitchFamily="18" charset="0"/>
              </a:rPr>
              <a:t>0</a:t>
            </a:r>
            <a:endParaRPr lang="en-CA" sz="2400" b="1" dirty="0">
              <a:solidFill>
                <a:srgbClr val="FF0000"/>
              </a:solidFill>
              <a:latin typeface="Cambria" panose="02040503050406030204" pitchFamily="18" charset="0"/>
              <a:ea typeface="Cambria" panose="02040503050406030204" pitchFamily="18" charset="0"/>
            </a:endParaRPr>
          </a:p>
        </p:txBody>
      </p:sp>
      <p:sp>
        <p:nvSpPr>
          <p:cNvPr id="8" name="Oval 7">
            <a:extLst>
              <a:ext uri="{FF2B5EF4-FFF2-40B4-BE49-F238E27FC236}">
                <a16:creationId xmlns:a16="http://schemas.microsoft.com/office/drawing/2014/main" id="{65121C20-E86D-45C8-9E07-45C436278C88}"/>
              </a:ext>
            </a:extLst>
          </p:cNvPr>
          <p:cNvSpPr/>
          <p:nvPr/>
        </p:nvSpPr>
        <p:spPr>
          <a:xfrm>
            <a:off x="8141367" y="3041189"/>
            <a:ext cx="393033" cy="391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latin typeface="Cambria" panose="02040503050406030204" pitchFamily="18" charset="0"/>
                <a:ea typeface="Cambria" panose="02040503050406030204" pitchFamily="18" charset="0"/>
              </a:rPr>
              <a:t>1</a:t>
            </a:r>
            <a:endParaRPr lang="en-CA" sz="2400" b="1" dirty="0">
              <a:solidFill>
                <a:srgbClr val="FF0000"/>
              </a:solidFill>
              <a:latin typeface="Cambria" panose="02040503050406030204" pitchFamily="18" charset="0"/>
              <a:ea typeface="Cambria" panose="02040503050406030204" pitchFamily="18" charset="0"/>
            </a:endParaRPr>
          </a:p>
        </p:txBody>
      </p:sp>
      <p:sp>
        <p:nvSpPr>
          <p:cNvPr id="9" name="Oval 8">
            <a:extLst>
              <a:ext uri="{FF2B5EF4-FFF2-40B4-BE49-F238E27FC236}">
                <a16:creationId xmlns:a16="http://schemas.microsoft.com/office/drawing/2014/main" id="{189EBF65-D6BE-4C84-90E1-0117A9B4E57A}"/>
              </a:ext>
            </a:extLst>
          </p:cNvPr>
          <p:cNvSpPr/>
          <p:nvPr/>
        </p:nvSpPr>
        <p:spPr>
          <a:xfrm>
            <a:off x="7447545" y="4096249"/>
            <a:ext cx="393033" cy="391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latin typeface="Cambria" panose="02040503050406030204" pitchFamily="18" charset="0"/>
                <a:ea typeface="Cambria" panose="02040503050406030204" pitchFamily="18" charset="0"/>
              </a:rPr>
              <a:t>2</a:t>
            </a:r>
            <a:endParaRPr lang="en-CA" sz="2400" b="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3896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Oval 105">
            <a:extLst>
              <a:ext uri="{FF2B5EF4-FFF2-40B4-BE49-F238E27FC236}">
                <a16:creationId xmlns:a16="http://schemas.microsoft.com/office/drawing/2014/main" id="{1D602E07-AE7B-40D5-BEA7-F4EE58363B90}"/>
              </a:ext>
            </a:extLst>
          </p:cNvPr>
          <p:cNvSpPr/>
          <p:nvPr/>
        </p:nvSpPr>
        <p:spPr>
          <a:xfrm>
            <a:off x="7407435" y="5032325"/>
            <a:ext cx="1348548" cy="63387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5059C494-3843-4CA5-9F20-CF16C96A057D}"/>
              </a:ext>
            </a:extLst>
          </p:cNvPr>
          <p:cNvSpPr/>
          <p:nvPr/>
        </p:nvSpPr>
        <p:spPr>
          <a:xfrm>
            <a:off x="4074694" y="1586309"/>
            <a:ext cx="1104793" cy="71951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24CB4507-9D0A-4FC2-8301-446B679ACD28}"/>
              </a:ext>
            </a:extLst>
          </p:cNvPr>
          <p:cNvSpPr/>
          <p:nvPr/>
        </p:nvSpPr>
        <p:spPr>
          <a:xfrm>
            <a:off x="1263535" y="2895638"/>
            <a:ext cx="2201560" cy="2201560"/>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itle 4">
            <a:extLst>
              <a:ext uri="{FF2B5EF4-FFF2-40B4-BE49-F238E27FC236}">
                <a16:creationId xmlns:a16="http://schemas.microsoft.com/office/drawing/2014/main" id="{FC91CFB3-BA39-4049-8F20-A62E4AC87F91}"/>
              </a:ext>
            </a:extLst>
          </p:cNvPr>
          <p:cNvSpPr>
            <a:spLocks noGrp="1"/>
          </p:cNvSpPr>
          <p:nvPr>
            <p:ph type="title"/>
          </p:nvPr>
        </p:nvSpPr>
        <p:spPr>
          <a:xfrm>
            <a:off x="838200" y="365125"/>
            <a:ext cx="10515600" cy="1325563"/>
          </a:xfrm>
        </p:spPr>
        <p:txBody>
          <a:bodyPr/>
          <a:lstStyle/>
          <a:p>
            <a:r>
              <a:rPr lang="en-CA" dirty="0"/>
              <a:t>Step 2: Draw DFA Diagram</a:t>
            </a:r>
          </a:p>
        </p:txBody>
      </p:sp>
      <p:sp>
        <p:nvSpPr>
          <p:cNvPr id="7" name="TextBox 6">
            <a:extLst>
              <a:ext uri="{FF2B5EF4-FFF2-40B4-BE49-F238E27FC236}">
                <a16:creationId xmlns:a16="http://schemas.microsoft.com/office/drawing/2014/main" id="{C0772AA2-50E8-4463-A790-441EC20D318D}"/>
              </a:ext>
            </a:extLst>
          </p:cNvPr>
          <p:cNvSpPr txBox="1"/>
          <p:nvPr/>
        </p:nvSpPr>
        <p:spPr>
          <a:xfrm>
            <a:off x="1644315" y="3198166"/>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 → . E</a:t>
            </a:r>
          </a:p>
        </p:txBody>
      </p:sp>
      <p:sp>
        <p:nvSpPr>
          <p:cNvPr id="9" name="TextBox 8">
            <a:extLst>
              <a:ext uri="{FF2B5EF4-FFF2-40B4-BE49-F238E27FC236}">
                <a16:creationId xmlns:a16="http://schemas.microsoft.com/office/drawing/2014/main" id="{77D6202F-A271-4006-A4A3-01EA607ACDD1}"/>
              </a:ext>
            </a:extLst>
          </p:cNvPr>
          <p:cNvSpPr txBox="1"/>
          <p:nvPr/>
        </p:nvSpPr>
        <p:spPr>
          <a:xfrm>
            <a:off x="1644315" y="3666166"/>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 → . B </a:t>
            </a:r>
            <a:r>
              <a:rPr lang="en-CA" sz="2400" dirty="0" err="1">
                <a:latin typeface="Cambria" panose="02040503050406030204" pitchFamily="18" charset="0"/>
                <a:ea typeface="Cambria" panose="02040503050406030204" pitchFamily="18" charset="0"/>
              </a:rPr>
              <a:t>B</a:t>
            </a:r>
            <a:r>
              <a:rPr lang="en-CA" sz="2400" dirty="0">
                <a:latin typeface="Cambria" panose="02040503050406030204" pitchFamily="18" charset="0"/>
                <a:ea typeface="Cambria" panose="02040503050406030204" pitchFamily="18" charset="0"/>
              </a:rPr>
              <a:t> </a:t>
            </a:r>
          </a:p>
        </p:txBody>
      </p:sp>
      <p:sp>
        <p:nvSpPr>
          <p:cNvPr id="10" name="TextBox 9">
            <a:extLst>
              <a:ext uri="{FF2B5EF4-FFF2-40B4-BE49-F238E27FC236}">
                <a16:creationId xmlns:a16="http://schemas.microsoft.com/office/drawing/2014/main" id="{10261984-CDCC-4027-98E5-0CBD4BA32459}"/>
              </a:ext>
            </a:extLst>
          </p:cNvPr>
          <p:cNvSpPr txBox="1"/>
          <p:nvPr/>
        </p:nvSpPr>
        <p:spPr>
          <a:xfrm>
            <a:off x="1644314" y="4134166"/>
            <a:ext cx="1692443" cy="461665"/>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 </a:t>
            </a:r>
            <a:r>
              <a:rPr lang="en-CA" sz="2400" dirty="0" err="1">
                <a:latin typeface="Cambria" panose="02040503050406030204" pitchFamily="18" charset="0"/>
                <a:ea typeface="Cambria" panose="02040503050406030204" pitchFamily="18" charset="0"/>
              </a:rPr>
              <a:t>cB</a:t>
            </a:r>
            <a:r>
              <a:rPr lang="en-CA" sz="2400" dirty="0">
                <a:latin typeface="Cambria" panose="02040503050406030204" pitchFamily="18" charset="0"/>
                <a:ea typeface="Cambria" panose="02040503050406030204" pitchFamily="18" charset="0"/>
              </a:rPr>
              <a:t> | .d</a:t>
            </a:r>
          </a:p>
        </p:txBody>
      </p:sp>
      <p:sp>
        <p:nvSpPr>
          <p:cNvPr id="12" name="TextBox 11">
            <a:extLst>
              <a:ext uri="{FF2B5EF4-FFF2-40B4-BE49-F238E27FC236}">
                <a16:creationId xmlns:a16="http://schemas.microsoft.com/office/drawing/2014/main" id="{BF846F40-D2D1-4288-8067-A36A0695DAAF}"/>
              </a:ext>
            </a:extLst>
          </p:cNvPr>
          <p:cNvSpPr txBox="1"/>
          <p:nvPr/>
        </p:nvSpPr>
        <p:spPr>
          <a:xfrm>
            <a:off x="4074694" y="1740167"/>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 → E </a:t>
            </a:r>
            <a:r>
              <a:rPr lang="en-CA" sz="2400" dirty="0">
                <a:solidFill>
                  <a:srgbClr val="FF0000"/>
                </a:solidFill>
                <a:latin typeface="Cambria" panose="02040503050406030204" pitchFamily="18" charset="0"/>
                <a:ea typeface="Cambria" panose="02040503050406030204" pitchFamily="18" charset="0"/>
              </a:rPr>
              <a:t>.</a:t>
            </a:r>
            <a:r>
              <a:rPr lang="en-CA" sz="2400" dirty="0">
                <a:latin typeface="Cambria" panose="02040503050406030204" pitchFamily="18" charset="0"/>
                <a:ea typeface="Cambria" panose="02040503050406030204" pitchFamily="18" charset="0"/>
              </a:rPr>
              <a:t> </a:t>
            </a:r>
          </a:p>
        </p:txBody>
      </p:sp>
      <p:sp>
        <p:nvSpPr>
          <p:cNvPr id="13" name="TextBox 12">
            <a:extLst>
              <a:ext uri="{FF2B5EF4-FFF2-40B4-BE49-F238E27FC236}">
                <a16:creationId xmlns:a16="http://schemas.microsoft.com/office/drawing/2014/main" id="{5D8F1DEB-6DC7-4153-8463-1F34576A53D8}"/>
              </a:ext>
            </a:extLst>
          </p:cNvPr>
          <p:cNvSpPr txBox="1"/>
          <p:nvPr/>
        </p:nvSpPr>
        <p:spPr>
          <a:xfrm>
            <a:off x="7277461" y="4731545"/>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6</a:t>
            </a:r>
          </a:p>
        </p:txBody>
      </p:sp>
      <p:sp>
        <p:nvSpPr>
          <p:cNvPr id="14" name="TextBox 13">
            <a:extLst>
              <a:ext uri="{FF2B5EF4-FFF2-40B4-BE49-F238E27FC236}">
                <a16:creationId xmlns:a16="http://schemas.microsoft.com/office/drawing/2014/main" id="{26EAAD84-6E65-4169-934F-08F34D9817BD}"/>
              </a:ext>
            </a:extLst>
          </p:cNvPr>
          <p:cNvSpPr txBox="1"/>
          <p:nvPr/>
        </p:nvSpPr>
        <p:spPr>
          <a:xfrm>
            <a:off x="4539912" y="2623505"/>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 → B . </a:t>
            </a:r>
            <a:r>
              <a:rPr lang="en-CA" sz="2400" dirty="0">
                <a:solidFill>
                  <a:srgbClr val="0070C0"/>
                </a:solidFill>
                <a:latin typeface="Cambria" panose="02040503050406030204" pitchFamily="18" charset="0"/>
                <a:ea typeface="Cambria" panose="02040503050406030204" pitchFamily="18" charset="0"/>
              </a:rPr>
              <a:t>B</a:t>
            </a:r>
            <a:r>
              <a:rPr lang="en-CA" sz="2400" dirty="0">
                <a:latin typeface="Cambria" panose="02040503050406030204" pitchFamily="18" charset="0"/>
                <a:ea typeface="Cambria" panose="02040503050406030204" pitchFamily="18" charset="0"/>
              </a:rPr>
              <a:t> </a:t>
            </a:r>
          </a:p>
        </p:txBody>
      </p:sp>
      <p:sp>
        <p:nvSpPr>
          <p:cNvPr id="15" name="TextBox 14">
            <a:extLst>
              <a:ext uri="{FF2B5EF4-FFF2-40B4-BE49-F238E27FC236}">
                <a16:creationId xmlns:a16="http://schemas.microsoft.com/office/drawing/2014/main" id="{C40EB86B-6BE5-4EFD-90F1-FD505CF22C71}"/>
              </a:ext>
            </a:extLst>
          </p:cNvPr>
          <p:cNvSpPr txBox="1"/>
          <p:nvPr/>
        </p:nvSpPr>
        <p:spPr>
          <a:xfrm>
            <a:off x="4636167" y="4214374"/>
            <a:ext cx="1836821" cy="461665"/>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c . </a:t>
            </a:r>
            <a:r>
              <a:rPr lang="en-CA" sz="2400" dirty="0">
                <a:solidFill>
                  <a:srgbClr val="0070C0"/>
                </a:solidFill>
                <a:latin typeface="Cambria" panose="02040503050406030204" pitchFamily="18" charset="0"/>
                <a:ea typeface="Cambria" panose="02040503050406030204" pitchFamily="18" charset="0"/>
              </a:rPr>
              <a:t>B</a:t>
            </a:r>
            <a:endParaRPr lang="en-CA" sz="24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35479071-541C-4264-87BA-C82F7630AC28}"/>
              </a:ext>
            </a:extLst>
          </p:cNvPr>
          <p:cNvSpPr txBox="1"/>
          <p:nvPr/>
        </p:nvSpPr>
        <p:spPr>
          <a:xfrm>
            <a:off x="4539912" y="2980438"/>
            <a:ext cx="1836820" cy="461665"/>
          </a:xfrm>
          <a:prstGeom prst="rect">
            <a:avLst/>
          </a:prstGeom>
          <a:noFill/>
        </p:spPr>
        <p:txBody>
          <a:bodyPr wrap="square" rtlCol="0">
            <a:spAutoFit/>
          </a:bodyPr>
          <a:lstStyle/>
          <a:p>
            <a:r>
              <a:rPr lang="en-CA" sz="2400" dirty="0">
                <a:solidFill>
                  <a:srgbClr val="0070C0"/>
                </a:solidFill>
                <a:latin typeface="Cambria" panose="02040503050406030204" pitchFamily="18" charset="0"/>
                <a:ea typeface="Cambria" panose="02040503050406030204" pitchFamily="18" charset="0"/>
              </a:rPr>
              <a:t>B </a:t>
            </a:r>
            <a:r>
              <a:rPr lang="en-CA" sz="2400" dirty="0">
                <a:latin typeface="Cambria" panose="02040503050406030204" pitchFamily="18" charset="0"/>
                <a:ea typeface="Cambria" panose="02040503050406030204" pitchFamily="18" charset="0"/>
              </a:rPr>
              <a:t>→ . c B | . d </a:t>
            </a:r>
          </a:p>
        </p:txBody>
      </p:sp>
      <p:sp>
        <p:nvSpPr>
          <p:cNvPr id="19" name="TextBox 18">
            <a:extLst>
              <a:ext uri="{FF2B5EF4-FFF2-40B4-BE49-F238E27FC236}">
                <a16:creationId xmlns:a16="http://schemas.microsoft.com/office/drawing/2014/main" id="{0C0FA6B2-04FA-4C9A-9B58-C55719778443}"/>
              </a:ext>
            </a:extLst>
          </p:cNvPr>
          <p:cNvSpPr txBox="1"/>
          <p:nvPr/>
        </p:nvSpPr>
        <p:spPr>
          <a:xfrm>
            <a:off x="4636167" y="4676039"/>
            <a:ext cx="1836820" cy="461665"/>
          </a:xfrm>
          <a:prstGeom prst="rect">
            <a:avLst/>
          </a:prstGeom>
          <a:noFill/>
        </p:spPr>
        <p:txBody>
          <a:bodyPr wrap="square" rtlCol="0">
            <a:spAutoFit/>
          </a:bodyPr>
          <a:lstStyle/>
          <a:p>
            <a:r>
              <a:rPr lang="en-CA" sz="2400" dirty="0">
                <a:solidFill>
                  <a:srgbClr val="0070C0"/>
                </a:solidFill>
                <a:latin typeface="Cambria" panose="02040503050406030204" pitchFamily="18" charset="0"/>
                <a:ea typeface="Cambria" panose="02040503050406030204" pitchFamily="18" charset="0"/>
              </a:rPr>
              <a:t>B </a:t>
            </a:r>
            <a:r>
              <a:rPr lang="en-CA" sz="2400" dirty="0">
                <a:latin typeface="Cambria" panose="02040503050406030204" pitchFamily="18" charset="0"/>
                <a:ea typeface="Cambria" panose="02040503050406030204" pitchFamily="18" charset="0"/>
              </a:rPr>
              <a:t>→ . c B | . d </a:t>
            </a:r>
          </a:p>
        </p:txBody>
      </p:sp>
      <p:sp>
        <p:nvSpPr>
          <p:cNvPr id="20" name="TextBox 19">
            <a:extLst>
              <a:ext uri="{FF2B5EF4-FFF2-40B4-BE49-F238E27FC236}">
                <a16:creationId xmlns:a16="http://schemas.microsoft.com/office/drawing/2014/main" id="{C32FA356-BE07-40D1-B0BB-AB267658C713}"/>
              </a:ext>
            </a:extLst>
          </p:cNvPr>
          <p:cNvSpPr txBox="1"/>
          <p:nvPr/>
        </p:nvSpPr>
        <p:spPr>
          <a:xfrm>
            <a:off x="4074694" y="5555904"/>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d </a:t>
            </a:r>
            <a:r>
              <a:rPr lang="en-CA" sz="2400" dirty="0">
                <a:solidFill>
                  <a:srgbClr val="FF0000"/>
                </a:solidFill>
                <a:latin typeface="Cambria" panose="02040503050406030204" pitchFamily="18" charset="0"/>
                <a:ea typeface="Cambria" panose="02040503050406030204" pitchFamily="18" charset="0"/>
              </a:rPr>
              <a:t>.</a:t>
            </a:r>
            <a:r>
              <a:rPr lang="en-CA" sz="2400" dirty="0">
                <a:latin typeface="Cambria" panose="02040503050406030204" pitchFamily="18" charset="0"/>
                <a:ea typeface="Cambria" panose="02040503050406030204" pitchFamily="18" charset="0"/>
              </a:rPr>
              <a:t> </a:t>
            </a:r>
          </a:p>
        </p:txBody>
      </p:sp>
      <p:sp>
        <p:nvSpPr>
          <p:cNvPr id="23" name="Oval 22">
            <a:extLst>
              <a:ext uri="{FF2B5EF4-FFF2-40B4-BE49-F238E27FC236}">
                <a16:creationId xmlns:a16="http://schemas.microsoft.com/office/drawing/2014/main" id="{189D39FC-9158-4938-B5EF-580811FDCA6E}"/>
              </a:ext>
            </a:extLst>
          </p:cNvPr>
          <p:cNvSpPr/>
          <p:nvPr/>
        </p:nvSpPr>
        <p:spPr>
          <a:xfrm>
            <a:off x="4359219" y="2519975"/>
            <a:ext cx="2065639" cy="1110975"/>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17D0D8A4-F2E2-4A46-9B95-EBE73181D495}"/>
              </a:ext>
            </a:extLst>
          </p:cNvPr>
          <p:cNvSpPr/>
          <p:nvPr/>
        </p:nvSpPr>
        <p:spPr>
          <a:xfrm>
            <a:off x="4393421" y="4142732"/>
            <a:ext cx="2199884" cy="1128959"/>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8C7E0A24-3C4F-40C6-AD4E-2A24D4B6467B}"/>
              </a:ext>
            </a:extLst>
          </p:cNvPr>
          <p:cNvSpPr/>
          <p:nvPr/>
        </p:nvSpPr>
        <p:spPr>
          <a:xfrm>
            <a:off x="4074694" y="5430145"/>
            <a:ext cx="1104793" cy="71951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9" name="Straight Arrow Connector 28">
            <a:extLst>
              <a:ext uri="{FF2B5EF4-FFF2-40B4-BE49-F238E27FC236}">
                <a16:creationId xmlns:a16="http://schemas.microsoft.com/office/drawing/2014/main" id="{199C0DC0-F8F5-4FA3-96FD-CFEE011F7E33}"/>
              </a:ext>
            </a:extLst>
          </p:cNvPr>
          <p:cNvCxnSpPr>
            <a:cxnSpLocks/>
          </p:cNvCxnSpPr>
          <p:nvPr/>
        </p:nvCxnSpPr>
        <p:spPr>
          <a:xfrm flipV="1">
            <a:off x="3014857" y="2202470"/>
            <a:ext cx="1011711" cy="879348"/>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0F9A1F3-BABC-463F-A9EE-5EC22A1405DA}"/>
              </a:ext>
            </a:extLst>
          </p:cNvPr>
          <p:cNvCxnSpPr>
            <a:cxnSpLocks/>
          </p:cNvCxnSpPr>
          <p:nvPr/>
        </p:nvCxnSpPr>
        <p:spPr>
          <a:xfrm flipV="1">
            <a:off x="3436186" y="3283024"/>
            <a:ext cx="772623" cy="398722"/>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9D9A803-9ACA-40BB-878A-0B80F21F1346}"/>
              </a:ext>
            </a:extLst>
          </p:cNvPr>
          <p:cNvCxnSpPr>
            <a:cxnSpLocks/>
          </p:cNvCxnSpPr>
          <p:nvPr/>
        </p:nvCxnSpPr>
        <p:spPr>
          <a:xfrm>
            <a:off x="3465095" y="4286768"/>
            <a:ext cx="799988" cy="217172"/>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3491D83-B653-4DE9-A9F8-56184F954C65}"/>
              </a:ext>
            </a:extLst>
          </p:cNvPr>
          <p:cNvCxnSpPr>
            <a:cxnSpLocks/>
          </p:cNvCxnSpPr>
          <p:nvPr/>
        </p:nvCxnSpPr>
        <p:spPr>
          <a:xfrm>
            <a:off x="3146012" y="4800578"/>
            <a:ext cx="831311" cy="550578"/>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CEA00A3E-7EF8-4DE1-B14C-E18C5F6D1249}"/>
              </a:ext>
            </a:extLst>
          </p:cNvPr>
          <p:cNvSpPr txBox="1"/>
          <p:nvPr/>
        </p:nvSpPr>
        <p:spPr>
          <a:xfrm>
            <a:off x="7012515" y="1813722"/>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 → B </a:t>
            </a:r>
            <a:r>
              <a:rPr lang="en-CA" sz="2400" dirty="0" err="1">
                <a:latin typeface="Cambria" panose="02040503050406030204" pitchFamily="18" charset="0"/>
                <a:ea typeface="Cambria" panose="02040503050406030204" pitchFamily="18" charset="0"/>
              </a:rPr>
              <a:t>B</a:t>
            </a:r>
            <a:r>
              <a:rPr lang="en-CA" sz="2400" dirty="0">
                <a:solidFill>
                  <a:srgbClr val="0070C0"/>
                </a:solidFill>
                <a:latin typeface="Cambria" panose="02040503050406030204" pitchFamily="18" charset="0"/>
                <a:ea typeface="Cambria" panose="02040503050406030204" pitchFamily="18" charset="0"/>
              </a:rPr>
              <a:t> </a:t>
            </a:r>
            <a:r>
              <a:rPr lang="en-CA" sz="2400" dirty="0">
                <a:solidFill>
                  <a:srgbClr val="FF0000"/>
                </a:solidFill>
                <a:latin typeface="Cambria" panose="02040503050406030204" pitchFamily="18" charset="0"/>
                <a:ea typeface="Cambria" panose="02040503050406030204" pitchFamily="18" charset="0"/>
              </a:rPr>
              <a:t>.</a:t>
            </a:r>
            <a:r>
              <a:rPr lang="en-CA" sz="2400" dirty="0">
                <a:latin typeface="Cambria" panose="02040503050406030204" pitchFamily="18" charset="0"/>
                <a:ea typeface="Cambria" panose="02040503050406030204" pitchFamily="18" charset="0"/>
              </a:rPr>
              <a:t> </a:t>
            </a:r>
          </a:p>
        </p:txBody>
      </p:sp>
      <p:sp>
        <p:nvSpPr>
          <p:cNvPr id="45" name="TextBox 44">
            <a:extLst>
              <a:ext uri="{FF2B5EF4-FFF2-40B4-BE49-F238E27FC236}">
                <a16:creationId xmlns:a16="http://schemas.microsoft.com/office/drawing/2014/main" id="{E888ECCD-F1DD-4979-ACE0-F8E93F8C782E}"/>
              </a:ext>
            </a:extLst>
          </p:cNvPr>
          <p:cNvSpPr txBox="1"/>
          <p:nvPr/>
        </p:nvSpPr>
        <p:spPr>
          <a:xfrm>
            <a:off x="7564521" y="3234629"/>
            <a:ext cx="1836820" cy="461665"/>
          </a:xfrm>
          <a:prstGeom prst="rect">
            <a:avLst/>
          </a:prstGeom>
          <a:noFill/>
        </p:spPr>
        <p:txBody>
          <a:bodyPr wrap="square" rtlCol="0">
            <a:spAutoFit/>
          </a:bodyPr>
          <a:lstStyle/>
          <a:p>
            <a:r>
              <a:rPr lang="en-CA" sz="2400" dirty="0">
                <a:solidFill>
                  <a:srgbClr val="0070C0"/>
                </a:solidFill>
                <a:latin typeface="Cambria" panose="02040503050406030204" pitchFamily="18" charset="0"/>
                <a:ea typeface="Cambria" panose="02040503050406030204" pitchFamily="18" charset="0"/>
              </a:rPr>
              <a:t>B </a:t>
            </a:r>
            <a:r>
              <a:rPr lang="en-CA" sz="2400" dirty="0">
                <a:latin typeface="Cambria" panose="02040503050406030204" pitchFamily="18" charset="0"/>
                <a:ea typeface="Cambria" panose="02040503050406030204" pitchFamily="18" charset="0"/>
              </a:rPr>
              <a:t>→ . c B | . d </a:t>
            </a:r>
          </a:p>
        </p:txBody>
      </p:sp>
      <p:sp>
        <p:nvSpPr>
          <p:cNvPr id="46" name="TextBox 45">
            <a:extLst>
              <a:ext uri="{FF2B5EF4-FFF2-40B4-BE49-F238E27FC236}">
                <a16:creationId xmlns:a16="http://schemas.microsoft.com/office/drawing/2014/main" id="{1408E7C3-3F2B-4B00-BF03-BF634619827C}"/>
              </a:ext>
            </a:extLst>
          </p:cNvPr>
          <p:cNvSpPr txBox="1"/>
          <p:nvPr/>
        </p:nvSpPr>
        <p:spPr>
          <a:xfrm>
            <a:off x="7564521" y="2877595"/>
            <a:ext cx="1836821" cy="461665"/>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c . </a:t>
            </a:r>
            <a:r>
              <a:rPr lang="en-CA" sz="2400" dirty="0">
                <a:solidFill>
                  <a:srgbClr val="0070C0"/>
                </a:solidFill>
                <a:latin typeface="Cambria" panose="02040503050406030204" pitchFamily="18" charset="0"/>
                <a:ea typeface="Cambria" panose="02040503050406030204" pitchFamily="18" charset="0"/>
              </a:rPr>
              <a:t>B</a:t>
            </a:r>
            <a:endParaRPr lang="en-CA" sz="2400" dirty="0">
              <a:latin typeface="Cambria" panose="02040503050406030204" pitchFamily="18" charset="0"/>
              <a:ea typeface="Cambria" panose="02040503050406030204" pitchFamily="18" charset="0"/>
            </a:endParaRPr>
          </a:p>
        </p:txBody>
      </p:sp>
      <p:sp>
        <p:nvSpPr>
          <p:cNvPr id="47" name="Oval 46">
            <a:extLst>
              <a:ext uri="{FF2B5EF4-FFF2-40B4-BE49-F238E27FC236}">
                <a16:creationId xmlns:a16="http://schemas.microsoft.com/office/drawing/2014/main" id="{8F0B92AE-3D34-44C6-AA36-2D0A49E5F371}"/>
              </a:ext>
            </a:extLst>
          </p:cNvPr>
          <p:cNvSpPr/>
          <p:nvPr/>
        </p:nvSpPr>
        <p:spPr>
          <a:xfrm>
            <a:off x="7419695" y="2739687"/>
            <a:ext cx="2065639" cy="11109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TextBox 47">
            <a:extLst>
              <a:ext uri="{FF2B5EF4-FFF2-40B4-BE49-F238E27FC236}">
                <a16:creationId xmlns:a16="http://schemas.microsoft.com/office/drawing/2014/main" id="{1B5ED4E8-C8A2-4B3C-A7E6-0841879B74D3}"/>
              </a:ext>
            </a:extLst>
          </p:cNvPr>
          <p:cNvSpPr txBox="1"/>
          <p:nvPr/>
        </p:nvSpPr>
        <p:spPr>
          <a:xfrm>
            <a:off x="3125644" y="2171747"/>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E</a:t>
            </a:r>
          </a:p>
        </p:txBody>
      </p:sp>
      <p:sp>
        <p:nvSpPr>
          <p:cNvPr id="49" name="TextBox 48">
            <a:extLst>
              <a:ext uri="{FF2B5EF4-FFF2-40B4-BE49-F238E27FC236}">
                <a16:creationId xmlns:a16="http://schemas.microsoft.com/office/drawing/2014/main" id="{4630442D-DE68-4F3D-BB70-458E5CF24CC6}"/>
              </a:ext>
            </a:extLst>
          </p:cNvPr>
          <p:cNvSpPr txBox="1"/>
          <p:nvPr/>
        </p:nvSpPr>
        <p:spPr>
          <a:xfrm>
            <a:off x="3614057" y="2920690"/>
            <a:ext cx="367378" cy="461665"/>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a:t>
            </a:r>
          </a:p>
        </p:txBody>
      </p:sp>
      <p:sp>
        <p:nvSpPr>
          <p:cNvPr id="50" name="TextBox 49">
            <a:extLst>
              <a:ext uri="{FF2B5EF4-FFF2-40B4-BE49-F238E27FC236}">
                <a16:creationId xmlns:a16="http://schemas.microsoft.com/office/drawing/2014/main" id="{9C1AAE31-76F6-46E7-90CE-D47662DBC6F1}"/>
              </a:ext>
            </a:extLst>
          </p:cNvPr>
          <p:cNvSpPr txBox="1"/>
          <p:nvPr/>
        </p:nvSpPr>
        <p:spPr>
          <a:xfrm>
            <a:off x="3632316" y="3929653"/>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c</a:t>
            </a:r>
          </a:p>
        </p:txBody>
      </p:sp>
      <p:sp>
        <p:nvSpPr>
          <p:cNvPr id="51" name="TextBox 50">
            <a:extLst>
              <a:ext uri="{FF2B5EF4-FFF2-40B4-BE49-F238E27FC236}">
                <a16:creationId xmlns:a16="http://schemas.microsoft.com/office/drawing/2014/main" id="{1BA94BE4-6F19-46BB-B3DB-04AEE1F6AC5E}"/>
              </a:ext>
            </a:extLst>
          </p:cNvPr>
          <p:cNvSpPr txBox="1"/>
          <p:nvPr/>
        </p:nvSpPr>
        <p:spPr>
          <a:xfrm>
            <a:off x="3465095" y="4645560"/>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d</a:t>
            </a:r>
          </a:p>
        </p:txBody>
      </p:sp>
      <p:cxnSp>
        <p:nvCxnSpPr>
          <p:cNvPr id="52" name="Straight Arrow Connector 51">
            <a:extLst>
              <a:ext uri="{FF2B5EF4-FFF2-40B4-BE49-F238E27FC236}">
                <a16:creationId xmlns:a16="http://schemas.microsoft.com/office/drawing/2014/main" id="{ED9F9A4F-4E4A-4431-96A2-A5901CE5631D}"/>
              </a:ext>
            </a:extLst>
          </p:cNvPr>
          <p:cNvCxnSpPr>
            <a:cxnSpLocks/>
          </p:cNvCxnSpPr>
          <p:nvPr/>
        </p:nvCxnSpPr>
        <p:spPr>
          <a:xfrm flipV="1">
            <a:off x="6069412" y="2235762"/>
            <a:ext cx="790480" cy="439674"/>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2BA5DBD-4A05-441F-9D63-831E88180DAB}"/>
              </a:ext>
            </a:extLst>
          </p:cNvPr>
          <p:cNvSpPr txBox="1"/>
          <p:nvPr/>
        </p:nvSpPr>
        <p:spPr>
          <a:xfrm>
            <a:off x="6119084" y="2019251"/>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a:t>
            </a:r>
          </a:p>
        </p:txBody>
      </p:sp>
      <p:cxnSp>
        <p:nvCxnSpPr>
          <p:cNvPr id="55" name="Straight Arrow Connector 54">
            <a:extLst>
              <a:ext uri="{FF2B5EF4-FFF2-40B4-BE49-F238E27FC236}">
                <a16:creationId xmlns:a16="http://schemas.microsoft.com/office/drawing/2014/main" id="{370897C1-E929-49AB-9206-B3DA232F44D5}"/>
              </a:ext>
            </a:extLst>
          </p:cNvPr>
          <p:cNvCxnSpPr>
            <a:cxnSpLocks/>
            <a:endCxn id="47" idx="2"/>
          </p:cNvCxnSpPr>
          <p:nvPr/>
        </p:nvCxnSpPr>
        <p:spPr>
          <a:xfrm>
            <a:off x="6376732" y="3245194"/>
            <a:ext cx="1042963" cy="499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98BA569-BCB9-48FF-A2D3-B08B3B721AE8}"/>
              </a:ext>
            </a:extLst>
          </p:cNvPr>
          <p:cNvSpPr txBox="1"/>
          <p:nvPr/>
        </p:nvSpPr>
        <p:spPr>
          <a:xfrm>
            <a:off x="6673065" y="2812877"/>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c</a:t>
            </a:r>
          </a:p>
        </p:txBody>
      </p:sp>
      <p:cxnSp>
        <p:nvCxnSpPr>
          <p:cNvPr id="58" name="Straight Arrow Connector 57">
            <a:extLst>
              <a:ext uri="{FF2B5EF4-FFF2-40B4-BE49-F238E27FC236}">
                <a16:creationId xmlns:a16="http://schemas.microsoft.com/office/drawing/2014/main" id="{D5151CEA-5170-4A39-8EBB-8279B34BD8BB}"/>
              </a:ext>
            </a:extLst>
          </p:cNvPr>
          <p:cNvCxnSpPr>
            <a:cxnSpLocks/>
            <a:endCxn id="24" idx="0"/>
          </p:cNvCxnSpPr>
          <p:nvPr/>
        </p:nvCxnSpPr>
        <p:spPr>
          <a:xfrm flipH="1">
            <a:off x="5493363" y="3524730"/>
            <a:ext cx="506598" cy="61800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246CA88-343D-4D41-8FB0-513F75C28446}"/>
              </a:ext>
            </a:extLst>
          </p:cNvPr>
          <p:cNvSpPr txBox="1"/>
          <p:nvPr/>
        </p:nvSpPr>
        <p:spPr>
          <a:xfrm>
            <a:off x="5379666" y="3540745"/>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c</a:t>
            </a:r>
          </a:p>
        </p:txBody>
      </p:sp>
      <p:sp>
        <p:nvSpPr>
          <p:cNvPr id="61" name="TextBox 60">
            <a:extLst>
              <a:ext uri="{FF2B5EF4-FFF2-40B4-BE49-F238E27FC236}">
                <a16:creationId xmlns:a16="http://schemas.microsoft.com/office/drawing/2014/main" id="{939E25CD-9331-456C-BE1F-C2A117E8CBED}"/>
              </a:ext>
            </a:extLst>
          </p:cNvPr>
          <p:cNvSpPr txBox="1"/>
          <p:nvPr/>
        </p:nvSpPr>
        <p:spPr>
          <a:xfrm>
            <a:off x="7762931" y="4214374"/>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d </a:t>
            </a:r>
            <a:r>
              <a:rPr lang="en-CA" sz="2400" dirty="0">
                <a:solidFill>
                  <a:srgbClr val="FF0000"/>
                </a:solidFill>
                <a:latin typeface="Cambria" panose="02040503050406030204" pitchFamily="18" charset="0"/>
                <a:ea typeface="Cambria" panose="02040503050406030204" pitchFamily="18" charset="0"/>
              </a:rPr>
              <a:t>.</a:t>
            </a:r>
            <a:r>
              <a:rPr lang="en-CA" sz="2400" dirty="0">
                <a:latin typeface="Cambria" panose="02040503050406030204" pitchFamily="18" charset="0"/>
                <a:ea typeface="Cambria" panose="02040503050406030204" pitchFamily="18" charset="0"/>
              </a:rPr>
              <a:t> </a:t>
            </a:r>
          </a:p>
        </p:txBody>
      </p:sp>
      <p:sp>
        <p:nvSpPr>
          <p:cNvPr id="62" name="Oval 61">
            <a:extLst>
              <a:ext uri="{FF2B5EF4-FFF2-40B4-BE49-F238E27FC236}">
                <a16:creationId xmlns:a16="http://schemas.microsoft.com/office/drawing/2014/main" id="{DD82CA46-46E2-442C-9E88-4E3D52E5255C}"/>
              </a:ext>
            </a:extLst>
          </p:cNvPr>
          <p:cNvSpPr/>
          <p:nvPr/>
        </p:nvSpPr>
        <p:spPr>
          <a:xfrm>
            <a:off x="7607131" y="4039214"/>
            <a:ext cx="1280195" cy="7613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TextBox 62">
            <a:extLst>
              <a:ext uri="{FF2B5EF4-FFF2-40B4-BE49-F238E27FC236}">
                <a16:creationId xmlns:a16="http://schemas.microsoft.com/office/drawing/2014/main" id="{558BB4A0-77EF-4500-ADFD-83DA10D362D5}"/>
              </a:ext>
            </a:extLst>
          </p:cNvPr>
          <p:cNvSpPr txBox="1"/>
          <p:nvPr/>
        </p:nvSpPr>
        <p:spPr>
          <a:xfrm>
            <a:off x="6869081" y="3462294"/>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d</a:t>
            </a:r>
          </a:p>
        </p:txBody>
      </p:sp>
      <p:cxnSp>
        <p:nvCxnSpPr>
          <p:cNvPr id="64" name="Straight Arrow Connector 63">
            <a:extLst>
              <a:ext uri="{FF2B5EF4-FFF2-40B4-BE49-F238E27FC236}">
                <a16:creationId xmlns:a16="http://schemas.microsoft.com/office/drawing/2014/main" id="{79952EE9-F674-4A80-B558-69F0FCB30D55}"/>
              </a:ext>
            </a:extLst>
          </p:cNvPr>
          <p:cNvCxnSpPr>
            <a:cxnSpLocks/>
          </p:cNvCxnSpPr>
          <p:nvPr/>
        </p:nvCxnSpPr>
        <p:spPr>
          <a:xfrm>
            <a:off x="6215972" y="3460692"/>
            <a:ext cx="1348548" cy="7400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0F242B28-FF41-4651-836B-1F03EAC666A5}"/>
              </a:ext>
            </a:extLst>
          </p:cNvPr>
          <p:cNvCxnSpPr>
            <a:cxnSpLocks/>
            <a:stCxn id="23" idx="5"/>
            <a:endCxn id="25" idx="6"/>
          </p:cNvCxnSpPr>
          <p:nvPr/>
        </p:nvCxnSpPr>
        <p:spPr>
          <a:xfrm rot="5400000">
            <a:off x="4490094" y="4157645"/>
            <a:ext cx="2321653" cy="942865"/>
          </a:xfrm>
          <a:prstGeom prst="bentConnector2">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933686D3-FE0F-4451-AAF9-F1ACF8FD5062}"/>
              </a:ext>
            </a:extLst>
          </p:cNvPr>
          <p:cNvSpPr txBox="1"/>
          <p:nvPr/>
        </p:nvSpPr>
        <p:spPr>
          <a:xfrm>
            <a:off x="7413574" y="5117156"/>
            <a:ext cx="1440000"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 → c B </a:t>
            </a:r>
            <a:r>
              <a:rPr lang="en-CA" sz="2400" dirty="0">
                <a:solidFill>
                  <a:srgbClr val="FF0000"/>
                </a:solidFill>
                <a:latin typeface="Cambria" panose="02040503050406030204" pitchFamily="18" charset="0"/>
                <a:ea typeface="Cambria" panose="02040503050406030204" pitchFamily="18" charset="0"/>
              </a:rPr>
              <a:t>. </a:t>
            </a:r>
          </a:p>
        </p:txBody>
      </p:sp>
      <p:cxnSp>
        <p:nvCxnSpPr>
          <p:cNvPr id="85" name="Straight Arrow Connector 84">
            <a:extLst>
              <a:ext uri="{FF2B5EF4-FFF2-40B4-BE49-F238E27FC236}">
                <a16:creationId xmlns:a16="http://schemas.microsoft.com/office/drawing/2014/main" id="{04F5856E-5F10-4841-87F2-3E8648EC69E0}"/>
              </a:ext>
            </a:extLst>
          </p:cNvPr>
          <p:cNvCxnSpPr>
            <a:cxnSpLocks/>
            <a:endCxn id="84" idx="1"/>
          </p:cNvCxnSpPr>
          <p:nvPr/>
        </p:nvCxnSpPr>
        <p:spPr>
          <a:xfrm>
            <a:off x="6468574" y="4981726"/>
            <a:ext cx="945000" cy="36943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936F7568-1AEA-45EB-A8CC-7DA79C7FA604}"/>
              </a:ext>
            </a:extLst>
          </p:cNvPr>
          <p:cNvSpPr txBox="1"/>
          <p:nvPr/>
        </p:nvSpPr>
        <p:spPr>
          <a:xfrm>
            <a:off x="6663835" y="4615506"/>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B</a:t>
            </a:r>
          </a:p>
        </p:txBody>
      </p:sp>
      <p:cxnSp>
        <p:nvCxnSpPr>
          <p:cNvPr id="89" name="Connector: Curved 88">
            <a:extLst>
              <a:ext uri="{FF2B5EF4-FFF2-40B4-BE49-F238E27FC236}">
                <a16:creationId xmlns:a16="http://schemas.microsoft.com/office/drawing/2014/main" id="{4901871B-6988-4C27-AB44-CB6DF4FB09DA}"/>
              </a:ext>
            </a:extLst>
          </p:cNvPr>
          <p:cNvCxnSpPr>
            <a:stCxn id="24" idx="5"/>
            <a:endCxn id="24" idx="4"/>
          </p:cNvCxnSpPr>
          <p:nvPr/>
        </p:nvCxnSpPr>
        <p:spPr>
          <a:xfrm rot="5400000">
            <a:off x="5799585" y="4800137"/>
            <a:ext cx="165332" cy="777776"/>
          </a:xfrm>
          <a:prstGeom prst="curvedConnector3">
            <a:avLst>
              <a:gd name="adj1" fmla="val 299719"/>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8DED3DD5-828A-40A6-9E5E-0EBFDBDC2DAC}"/>
              </a:ext>
            </a:extLst>
          </p:cNvPr>
          <p:cNvSpPr txBox="1"/>
          <p:nvPr/>
        </p:nvSpPr>
        <p:spPr>
          <a:xfrm>
            <a:off x="5750879" y="5189025"/>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c</a:t>
            </a:r>
          </a:p>
        </p:txBody>
      </p:sp>
      <p:cxnSp>
        <p:nvCxnSpPr>
          <p:cNvPr id="93" name="Connector: Curved 92">
            <a:extLst>
              <a:ext uri="{FF2B5EF4-FFF2-40B4-BE49-F238E27FC236}">
                <a16:creationId xmlns:a16="http://schemas.microsoft.com/office/drawing/2014/main" id="{6C77F986-E95F-43BC-96DD-E394BF147405}"/>
              </a:ext>
            </a:extLst>
          </p:cNvPr>
          <p:cNvCxnSpPr>
            <a:stCxn id="24" idx="5"/>
            <a:endCxn id="25" idx="4"/>
          </p:cNvCxnSpPr>
          <p:nvPr/>
        </p:nvCxnSpPr>
        <p:spPr>
          <a:xfrm rot="5400000">
            <a:off x="4927463" y="4805987"/>
            <a:ext cx="1043304" cy="1644048"/>
          </a:xfrm>
          <a:prstGeom prst="curvedConnector3">
            <a:avLst>
              <a:gd name="adj1" fmla="val 114955"/>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F3CF0F12-075B-4C40-9EBC-B9A130B89BE2}"/>
              </a:ext>
            </a:extLst>
          </p:cNvPr>
          <p:cNvSpPr txBox="1"/>
          <p:nvPr/>
        </p:nvSpPr>
        <p:spPr>
          <a:xfrm>
            <a:off x="5235081" y="5896964"/>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d</a:t>
            </a:r>
          </a:p>
        </p:txBody>
      </p:sp>
      <p:sp>
        <p:nvSpPr>
          <p:cNvPr id="103" name="Oval 102">
            <a:extLst>
              <a:ext uri="{FF2B5EF4-FFF2-40B4-BE49-F238E27FC236}">
                <a16:creationId xmlns:a16="http://schemas.microsoft.com/office/drawing/2014/main" id="{2DCD6409-5643-4C48-BBEC-21D762C93466}"/>
              </a:ext>
            </a:extLst>
          </p:cNvPr>
          <p:cNvSpPr/>
          <p:nvPr/>
        </p:nvSpPr>
        <p:spPr>
          <a:xfrm>
            <a:off x="6986448" y="1683926"/>
            <a:ext cx="1280195" cy="761364"/>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TextBox 104">
            <a:extLst>
              <a:ext uri="{FF2B5EF4-FFF2-40B4-BE49-F238E27FC236}">
                <a16:creationId xmlns:a16="http://schemas.microsoft.com/office/drawing/2014/main" id="{D426359C-784A-4077-95B7-4F4CE95877CF}"/>
              </a:ext>
            </a:extLst>
          </p:cNvPr>
          <p:cNvSpPr txBox="1"/>
          <p:nvPr/>
        </p:nvSpPr>
        <p:spPr>
          <a:xfrm>
            <a:off x="6050037" y="3689826"/>
            <a:ext cx="497754" cy="468000"/>
          </a:xfrm>
          <a:prstGeom prst="rect">
            <a:avLst/>
          </a:prstGeom>
          <a:noFill/>
        </p:spPr>
        <p:txBody>
          <a:bodyPr wrap="square" rtlCol="0">
            <a:spAutoFit/>
          </a:bodyPr>
          <a:lstStyle/>
          <a:p>
            <a:r>
              <a:rPr lang="en-CA" sz="2400" dirty="0">
                <a:latin typeface="Cambria" panose="02040503050406030204" pitchFamily="18" charset="0"/>
                <a:ea typeface="Cambria" panose="02040503050406030204" pitchFamily="18" charset="0"/>
              </a:rPr>
              <a:t>d</a:t>
            </a:r>
          </a:p>
        </p:txBody>
      </p:sp>
      <p:sp>
        <p:nvSpPr>
          <p:cNvPr id="107" name="TextBox 106">
            <a:extLst>
              <a:ext uri="{FF2B5EF4-FFF2-40B4-BE49-F238E27FC236}">
                <a16:creationId xmlns:a16="http://schemas.microsoft.com/office/drawing/2014/main" id="{183E3C2B-B385-48B0-9138-AC3A665BEBDB}"/>
              </a:ext>
            </a:extLst>
          </p:cNvPr>
          <p:cNvSpPr txBox="1"/>
          <p:nvPr/>
        </p:nvSpPr>
        <p:spPr>
          <a:xfrm>
            <a:off x="1910214" y="2446393"/>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0</a:t>
            </a:r>
          </a:p>
        </p:txBody>
      </p:sp>
      <p:sp>
        <p:nvSpPr>
          <p:cNvPr id="108" name="TextBox 107">
            <a:extLst>
              <a:ext uri="{FF2B5EF4-FFF2-40B4-BE49-F238E27FC236}">
                <a16:creationId xmlns:a16="http://schemas.microsoft.com/office/drawing/2014/main" id="{37784698-63CE-4210-965B-0484F4FFEEB3}"/>
              </a:ext>
            </a:extLst>
          </p:cNvPr>
          <p:cNvSpPr txBox="1"/>
          <p:nvPr/>
        </p:nvSpPr>
        <p:spPr>
          <a:xfrm>
            <a:off x="3778860" y="1293578"/>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1</a:t>
            </a:r>
          </a:p>
        </p:txBody>
      </p:sp>
      <p:sp>
        <p:nvSpPr>
          <p:cNvPr id="109" name="TextBox 108">
            <a:extLst>
              <a:ext uri="{FF2B5EF4-FFF2-40B4-BE49-F238E27FC236}">
                <a16:creationId xmlns:a16="http://schemas.microsoft.com/office/drawing/2014/main" id="{D24D01DB-0351-4DC8-BC0B-078E285AE021}"/>
              </a:ext>
            </a:extLst>
          </p:cNvPr>
          <p:cNvSpPr txBox="1"/>
          <p:nvPr/>
        </p:nvSpPr>
        <p:spPr>
          <a:xfrm>
            <a:off x="4110343" y="2333881"/>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2</a:t>
            </a:r>
          </a:p>
        </p:txBody>
      </p:sp>
      <p:sp>
        <p:nvSpPr>
          <p:cNvPr id="110" name="TextBox 109">
            <a:extLst>
              <a:ext uri="{FF2B5EF4-FFF2-40B4-BE49-F238E27FC236}">
                <a16:creationId xmlns:a16="http://schemas.microsoft.com/office/drawing/2014/main" id="{8204DA1A-67E1-477E-AC8D-8ABD0F354A58}"/>
              </a:ext>
            </a:extLst>
          </p:cNvPr>
          <p:cNvSpPr txBox="1"/>
          <p:nvPr/>
        </p:nvSpPr>
        <p:spPr>
          <a:xfrm>
            <a:off x="4435692" y="3773362"/>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3</a:t>
            </a:r>
          </a:p>
        </p:txBody>
      </p:sp>
      <p:sp>
        <p:nvSpPr>
          <p:cNvPr id="111" name="TextBox 110">
            <a:extLst>
              <a:ext uri="{FF2B5EF4-FFF2-40B4-BE49-F238E27FC236}">
                <a16:creationId xmlns:a16="http://schemas.microsoft.com/office/drawing/2014/main" id="{799A41D3-0BD8-4C63-99A5-131297D2136F}"/>
              </a:ext>
            </a:extLst>
          </p:cNvPr>
          <p:cNvSpPr txBox="1"/>
          <p:nvPr/>
        </p:nvSpPr>
        <p:spPr>
          <a:xfrm>
            <a:off x="4155405" y="4947233"/>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4</a:t>
            </a:r>
          </a:p>
        </p:txBody>
      </p:sp>
      <p:sp>
        <p:nvSpPr>
          <p:cNvPr id="112" name="TextBox 111">
            <a:extLst>
              <a:ext uri="{FF2B5EF4-FFF2-40B4-BE49-F238E27FC236}">
                <a16:creationId xmlns:a16="http://schemas.microsoft.com/office/drawing/2014/main" id="{39C815CF-C316-4F42-94B6-AD2B890F76E1}"/>
              </a:ext>
            </a:extLst>
          </p:cNvPr>
          <p:cNvSpPr txBox="1"/>
          <p:nvPr/>
        </p:nvSpPr>
        <p:spPr>
          <a:xfrm>
            <a:off x="7419695" y="1187433"/>
            <a:ext cx="457965" cy="468000"/>
          </a:xfrm>
          <a:prstGeom prst="rect">
            <a:avLst/>
          </a:prstGeom>
          <a:noFill/>
        </p:spPr>
        <p:txBody>
          <a:bodyPr wrap="square" rtlCol="0">
            <a:spAutoFit/>
          </a:bodyPr>
          <a:lstStyle/>
          <a:p>
            <a:r>
              <a:rPr lang="en-CA" sz="2400" dirty="0">
                <a:solidFill>
                  <a:srgbClr val="7030A0"/>
                </a:solidFill>
                <a:latin typeface="Cambria" panose="02040503050406030204" pitchFamily="18" charset="0"/>
                <a:ea typeface="Cambria" panose="02040503050406030204" pitchFamily="18" charset="0"/>
              </a:rPr>
              <a:t>I</a:t>
            </a:r>
            <a:r>
              <a:rPr lang="en-CA" sz="2400" baseline="-25000" dirty="0">
                <a:solidFill>
                  <a:srgbClr val="7030A0"/>
                </a:solidFill>
                <a:latin typeface="Cambria" panose="02040503050406030204" pitchFamily="18" charset="0"/>
                <a:ea typeface="Cambria" panose="02040503050406030204" pitchFamily="18" charset="0"/>
              </a:rPr>
              <a:t>5</a:t>
            </a:r>
          </a:p>
        </p:txBody>
      </p:sp>
    </p:spTree>
    <p:extLst>
      <p:ext uri="{BB962C8B-B14F-4D97-AF65-F5344CB8AC3E}">
        <p14:creationId xmlns:p14="http://schemas.microsoft.com/office/powerpoint/2010/main" val="159947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down)">
                                      <p:cBhvr>
                                        <p:cTn id="23" dur="500"/>
                                        <p:tgtEl>
                                          <p:spTgt spid="2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wipe(down)">
                                      <p:cBhvr>
                                        <p:cTn id="26" dur="500"/>
                                        <p:tgtEl>
                                          <p:spTgt spid="4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down)">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wipe(down)">
                                      <p:cBhvr>
                                        <p:cTn id="41" dur="500"/>
                                        <p:tgtEl>
                                          <p:spTgt spid="49"/>
                                        </p:tgtEl>
                                      </p:cBhvr>
                                    </p:animEffect>
                                  </p:childTnLst>
                                </p:cTn>
                              </p:par>
                              <p:par>
                                <p:cTn id="42" presetID="22" presetClass="entr" presetSubtype="4"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down)">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down)">
                                      <p:cBhvr>
                                        <p:cTn id="59" dur="5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wipe(left)">
                                      <p:cBhvr>
                                        <p:cTn id="64" dur="500"/>
                                        <p:tgtEl>
                                          <p:spTgt spid="50"/>
                                        </p:tgtEl>
                                      </p:cBhvr>
                                    </p:animEffect>
                                  </p:childTnLst>
                                </p:cTn>
                              </p:par>
                              <p:par>
                                <p:cTn id="65" presetID="22" presetClass="entr" presetSubtype="8"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left)">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down)">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wipe(left)">
                                      <p:cBhvr>
                                        <p:cTn id="87" dur="500"/>
                                        <p:tgtEl>
                                          <p:spTgt spid="51"/>
                                        </p:tgtEl>
                                      </p:cBhvr>
                                    </p:animEffect>
                                  </p:childTnLst>
                                </p:cTn>
                              </p:par>
                              <p:par>
                                <p:cTn id="88" presetID="22" presetClass="entr" presetSubtype="8" fill="hold" nodeType="with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wipe(left)">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wipe(down)">
                                      <p:cBhvr>
                                        <p:cTn id="100" dur="500"/>
                                        <p:tgtEl>
                                          <p:spTgt spid="2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54"/>
                                        </p:tgtEl>
                                        <p:attrNameLst>
                                          <p:attrName>style.visibility</p:attrName>
                                        </p:attrNameLst>
                                      </p:cBhvr>
                                      <p:to>
                                        <p:strVal val="visible"/>
                                      </p:to>
                                    </p:set>
                                    <p:animEffect transition="in" filter="wipe(down)">
                                      <p:cBhvr>
                                        <p:cTn id="105" dur="500"/>
                                        <p:tgtEl>
                                          <p:spTgt spid="54"/>
                                        </p:tgtEl>
                                      </p:cBhvr>
                                    </p:animEffect>
                                  </p:childTnLst>
                                </p:cTn>
                              </p:par>
                              <p:par>
                                <p:cTn id="106" presetID="22" presetClass="entr" presetSubtype="4" fill="hold"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wipe(down)">
                                      <p:cBhvr>
                                        <p:cTn id="108" dur="500"/>
                                        <p:tgtEl>
                                          <p:spTgt spid="52"/>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500"/>
                                        <p:tgtEl>
                                          <p:spTgt spid="44"/>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103"/>
                                        </p:tgtEl>
                                        <p:attrNameLst>
                                          <p:attrName>style.visibility</p:attrName>
                                        </p:attrNameLst>
                                      </p:cBhvr>
                                      <p:to>
                                        <p:strVal val="visible"/>
                                      </p:to>
                                    </p:set>
                                    <p:animEffect transition="in" filter="wipe(down)">
                                      <p:cBhvr>
                                        <p:cTn id="118" dur="500"/>
                                        <p:tgtEl>
                                          <p:spTgt spid="103"/>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57"/>
                                        </p:tgtEl>
                                        <p:attrNameLst>
                                          <p:attrName>style.visibility</p:attrName>
                                        </p:attrNameLst>
                                      </p:cBhvr>
                                      <p:to>
                                        <p:strVal val="visible"/>
                                      </p:to>
                                    </p:set>
                                    <p:animEffect transition="in" filter="wipe(left)">
                                      <p:cBhvr>
                                        <p:cTn id="123" dur="500"/>
                                        <p:tgtEl>
                                          <p:spTgt spid="57"/>
                                        </p:tgtEl>
                                      </p:cBhvr>
                                    </p:animEffect>
                                  </p:childTnLst>
                                </p:cTn>
                              </p:par>
                              <p:par>
                                <p:cTn id="124" presetID="22" presetClass="entr" presetSubtype="8" fill="hold" nodeType="with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wipe(left)">
                                      <p:cBhvr>
                                        <p:cTn id="126" dur="500"/>
                                        <p:tgtEl>
                                          <p:spTgt spid="55"/>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500"/>
                                        <p:tgtEl>
                                          <p:spTgt spid="46"/>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47"/>
                                        </p:tgtEl>
                                        <p:attrNameLst>
                                          <p:attrName>style.visibility</p:attrName>
                                        </p:attrNameLst>
                                      </p:cBhvr>
                                      <p:to>
                                        <p:strVal val="visible"/>
                                      </p:to>
                                    </p:set>
                                    <p:animEffect transition="in" filter="wipe(down)">
                                      <p:cBhvr>
                                        <p:cTn id="141" dur="500"/>
                                        <p:tgtEl>
                                          <p:spTgt spid="4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3"/>
                                        </p:tgtEl>
                                        <p:attrNameLst>
                                          <p:attrName>style.visibility</p:attrName>
                                        </p:attrNameLst>
                                      </p:cBhvr>
                                      <p:to>
                                        <p:strVal val="visible"/>
                                      </p:to>
                                    </p:set>
                                    <p:animEffect transition="in" filter="wipe(left)">
                                      <p:cBhvr>
                                        <p:cTn id="146" dur="500"/>
                                        <p:tgtEl>
                                          <p:spTgt spid="63"/>
                                        </p:tgtEl>
                                      </p:cBhvr>
                                    </p:animEffect>
                                  </p:childTnLst>
                                </p:cTn>
                              </p:par>
                              <p:par>
                                <p:cTn id="147" presetID="22" presetClass="entr" presetSubtype="8" fill="hold" nodeType="withEffect">
                                  <p:stCondLst>
                                    <p:cond delay="0"/>
                                  </p:stCondLst>
                                  <p:childTnLst>
                                    <p:set>
                                      <p:cBhvr>
                                        <p:cTn id="148" dur="1" fill="hold">
                                          <p:stCondLst>
                                            <p:cond delay="0"/>
                                          </p:stCondLst>
                                        </p:cTn>
                                        <p:tgtEl>
                                          <p:spTgt spid="64"/>
                                        </p:tgtEl>
                                        <p:attrNameLst>
                                          <p:attrName>style.visibility</p:attrName>
                                        </p:attrNameLst>
                                      </p:cBhvr>
                                      <p:to>
                                        <p:strVal val="visible"/>
                                      </p:to>
                                    </p:set>
                                    <p:animEffect transition="in" filter="wipe(left)">
                                      <p:cBhvr>
                                        <p:cTn id="149" dur="500"/>
                                        <p:tgtEl>
                                          <p:spTgt spid="64"/>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61"/>
                                        </p:tgtEl>
                                        <p:attrNameLst>
                                          <p:attrName>style.visibility</p:attrName>
                                        </p:attrNameLst>
                                      </p:cBhvr>
                                      <p:to>
                                        <p:strVal val="visible"/>
                                      </p:to>
                                    </p:set>
                                    <p:animEffect transition="in" filter="fade">
                                      <p:cBhvr>
                                        <p:cTn id="154" dur="500"/>
                                        <p:tgtEl>
                                          <p:spTgt spid="61"/>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4" fill="hold" grpId="0" nodeType="clickEffect">
                                  <p:stCondLst>
                                    <p:cond delay="0"/>
                                  </p:stCondLst>
                                  <p:childTnLst>
                                    <p:set>
                                      <p:cBhvr>
                                        <p:cTn id="158" dur="1" fill="hold">
                                          <p:stCondLst>
                                            <p:cond delay="0"/>
                                          </p:stCondLst>
                                        </p:cTn>
                                        <p:tgtEl>
                                          <p:spTgt spid="62"/>
                                        </p:tgtEl>
                                        <p:attrNameLst>
                                          <p:attrName>style.visibility</p:attrName>
                                        </p:attrNameLst>
                                      </p:cBhvr>
                                      <p:to>
                                        <p:strVal val="visible"/>
                                      </p:to>
                                    </p:set>
                                    <p:animEffect transition="in" filter="wipe(down)">
                                      <p:cBhvr>
                                        <p:cTn id="159" dur="500"/>
                                        <p:tgtEl>
                                          <p:spTgt spid="62"/>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1" fill="hold" grpId="0" nodeType="clickEffect">
                                  <p:stCondLst>
                                    <p:cond delay="0"/>
                                  </p:stCondLst>
                                  <p:childTnLst>
                                    <p:set>
                                      <p:cBhvr>
                                        <p:cTn id="163" dur="1" fill="hold">
                                          <p:stCondLst>
                                            <p:cond delay="0"/>
                                          </p:stCondLst>
                                        </p:cTn>
                                        <p:tgtEl>
                                          <p:spTgt spid="60"/>
                                        </p:tgtEl>
                                        <p:attrNameLst>
                                          <p:attrName>style.visibility</p:attrName>
                                        </p:attrNameLst>
                                      </p:cBhvr>
                                      <p:to>
                                        <p:strVal val="visible"/>
                                      </p:to>
                                    </p:set>
                                    <p:animEffect transition="in" filter="wipe(up)">
                                      <p:cBhvr>
                                        <p:cTn id="164" dur="500"/>
                                        <p:tgtEl>
                                          <p:spTgt spid="60"/>
                                        </p:tgtEl>
                                      </p:cBhvr>
                                    </p:animEffect>
                                  </p:childTnLst>
                                </p:cTn>
                              </p:par>
                              <p:par>
                                <p:cTn id="165" presetID="22" presetClass="entr" presetSubtype="1" fill="hold"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wipe(up)">
                                      <p:cBhvr>
                                        <p:cTn id="167" dur="500"/>
                                        <p:tgtEl>
                                          <p:spTgt spid="58"/>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1" fill="hold" grpId="0" nodeType="clickEffect">
                                  <p:stCondLst>
                                    <p:cond delay="0"/>
                                  </p:stCondLst>
                                  <p:childTnLst>
                                    <p:set>
                                      <p:cBhvr>
                                        <p:cTn id="171" dur="1" fill="hold">
                                          <p:stCondLst>
                                            <p:cond delay="0"/>
                                          </p:stCondLst>
                                        </p:cTn>
                                        <p:tgtEl>
                                          <p:spTgt spid="105"/>
                                        </p:tgtEl>
                                        <p:attrNameLst>
                                          <p:attrName>style.visibility</p:attrName>
                                        </p:attrNameLst>
                                      </p:cBhvr>
                                      <p:to>
                                        <p:strVal val="visible"/>
                                      </p:to>
                                    </p:set>
                                    <p:animEffect transition="in" filter="wipe(up)">
                                      <p:cBhvr>
                                        <p:cTn id="172" dur="500"/>
                                        <p:tgtEl>
                                          <p:spTgt spid="105"/>
                                        </p:tgtEl>
                                      </p:cBhvr>
                                    </p:animEffect>
                                  </p:childTnLst>
                                </p:cTn>
                              </p:par>
                              <p:par>
                                <p:cTn id="173" presetID="22" presetClass="entr" presetSubtype="1" fill="hold" nodeType="withEffect">
                                  <p:stCondLst>
                                    <p:cond delay="0"/>
                                  </p:stCondLst>
                                  <p:childTnLst>
                                    <p:set>
                                      <p:cBhvr>
                                        <p:cTn id="174" dur="1" fill="hold">
                                          <p:stCondLst>
                                            <p:cond delay="0"/>
                                          </p:stCondLst>
                                        </p:cTn>
                                        <p:tgtEl>
                                          <p:spTgt spid="75"/>
                                        </p:tgtEl>
                                        <p:attrNameLst>
                                          <p:attrName>style.visibility</p:attrName>
                                        </p:attrNameLst>
                                      </p:cBhvr>
                                      <p:to>
                                        <p:strVal val="visible"/>
                                      </p:to>
                                    </p:set>
                                    <p:animEffect transition="in" filter="wipe(up)">
                                      <p:cBhvr>
                                        <p:cTn id="175" dur="500"/>
                                        <p:tgtEl>
                                          <p:spTgt spid="75"/>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grpId="0" nodeType="clickEffect">
                                  <p:stCondLst>
                                    <p:cond delay="0"/>
                                  </p:stCondLst>
                                  <p:childTnLst>
                                    <p:set>
                                      <p:cBhvr>
                                        <p:cTn id="179" dur="1" fill="hold">
                                          <p:stCondLst>
                                            <p:cond delay="0"/>
                                          </p:stCondLst>
                                        </p:cTn>
                                        <p:tgtEl>
                                          <p:spTgt spid="86"/>
                                        </p:tgtEl>
                                        <p:attrNameLst>
                                          <p:attrName>style.visibility</p:attrName>
                                        </p:attrNameLst>
                                      </p:cBhvr>
                                      <p:to>
                                        <p:strVal val="visible"/>
                                      </p:to>
                                    </p:set>
                                    <p:animEffect transition="in" filter="wipe(left)">
                                      <p:cBhvr>
                                        <p:cTn id="180" dur="500"/>
                                        <p:tgtEl>
                                          <p:spTgt spid="86"/>
                                        </p:tgtEl>
                                      </p:cBhvr>
                                    </p:animEffect>
                                  </p:childTnLst>
                                </p:cTn>
                              </p:par>
                              <p:par>
                                <p:cTn id="181" presetID="22" presetClass="entr" presetSubtype="8" fill="hold" nodeType="withEffect">
                                  <p:stCondLst>
                                    <p:cond delay="0"/>
                                  </p:stCondLst>
                                  <p:childTnLst>
                                    <p:set>
                                      <p:cBhvr>
                                        <p:cTn id="182" dur="1" fill="hold">
                                          <p:stCondLst>
                                            <p:cond delay="0"/>
                                          </p:stCondLst>
                                        </p:cTn>
                                        <p:tgtEl>
                                          <p:spTgt spid="85"/>
                                        </p:tgtEl>
                                        <p:attrNameLst>
                                          <p:attrName>style.visibility</p:attrName>
                                        </p:attrNameLst>
                                      </p:cBhvr>
                                      <p:to>
                                        <p:strVal val="visible"/>
                                      </p:to>
                                    </p:set>
                                    <p:animEffect transition="in" filter="wipe(left)">
                                      <p:cBhvr>
                                        <p:cTn id="183" dur="500"/>
                                        <p:tgtEl>
                                          <p:spTgt spid="85"/>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84"/>
                                        </p:tgtEl>
                                        <p:attrNameLst>
                                          <p:attrName>style.visibility</p:attrName>
                                        </p:attrNameLst>
                                      </p:cBhvr>
                                      <p:to>
                                        <p:strVal val="visible"/>
                                      </p:to>
                                    </p:set>
                                    <p:animEffect transition="in" filter="fade">
                                      <p:cBhvr>
                                        <p:cTn id="188" dur="500"/>
                                        <p:tgtEl>
                                          <p:spTgt spid="84"/>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4" fill="hold" grpId="0" nodeType="clickEffect">
                                  <p:stCondLst>
                                    <p:cond delay="0"/>
                                  </p:stCondLst>
                                  <p:childTnLst>
                                    <p:set>
                                      <p:cBhvr>
                                        <p:cTn id="192" dur="1" fill="hold">
                                          <p:stCondLst>
                                            <p:cond delay="0"/>
                                          </p:stCondLst>
                                        </p:cTn>
                                        <p:tgtEl>
                                          <p:spTgt spid="106"/>
                                        </p:tgtEl>
                                        <p:attrNameLst>
                                          <p:attrName>style.visibility</p:attrName>
                                        </p:attrNameLst>
                                      </p:cBhvr>
                                      <p:to>
                                        <p:strVal val="visible"/>
                                      </p:to>
                                    </p:set>
                                    <p:animEffect transition="in" filter="wipe(down)">
                                      <p:cBhvr>
                                        <p:cTn id="193" dur="500"/>
                                        <p:tgtEl>
                                          <p:spTgt spid="106"/>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2" fill="hold" grpId="0" nodeType="clickEffect">
                                  <p:stCondLst>
                                    <p:cond delay="0"/>
                                  </p:stCondLst>
                                  <p:childTnLst>
                                    <p:set>
                                      <p:cBhvr>
                                        <p:cTn id="197" dur="1" fill="hold">
                                          <p:stCondLst>
                                            <p:cond delay="0"/>
                                          </p:stCondLst>
                                        </p:cTn>
                                        <p:tgtEl>
                                          <p:spTgt spid="91"/>
                                        </p:tgtEl>
                                        <p:attrNameLst>
                                          <p:attrName>style.visibility</p:attrName>
                                        </p:attrNameLst>
                                      </p:cBhvr>
                                      <p:to>
                                        <p:strVal val="visible"/>
                                      </p:to>
                                    </p:set>
                                    <p:animEffect transition="in" filter="wipe(right)">
                                      <p:cBhvr>
                                        <p:cTn id="198" dur="500"/>
                                        <p:tgtEl>
                                          <p:spTgt spid="91"/>
                                        </p:tgtEl>
                                      </p:cBhvr>
                                    </p:animEffect>
                                  </p:childTnLst>
                                </p:cTn>
                              </p:par>
                              <p:par>
                                <p:cTn id="199" presetID="22" presetClass="entr" presetSubtype="2" fill="hold" nodeType="withEffect">
                                  <p:stCondLst>
                                    <p:cond delay="0"/>
                                  </p:stCondLst>
                                  <p:childTnLst>
                                    <p:set>
                                      <p:cBhvr>
                                        <p:cTn id="200" dur="1" fill="hold">
                                          <p:stCondLst>
                                            <p:cond delay="0"/>
                                          </p:stCondLst>
                                        </p:cTn>
                                        <p:tgtEl>
                                          <p:spTgt spid="89"/>
                                        </p:tgtEl>
                                        <p:attrNameLst>
                                          <p:attrName>style.visibility</p:attrName>
                                        </p:attrNameLst>
                                      </p:cBhvr>
                                      <p:to>
                                        <p:strVal val="visible"/>
                                      </p:to>
                                    </p:set>
                                    <p:animEffect transition="in" filter="wipe(right)">
                                      <p:cBhvr>
                                        <p:cTn id="201" dur="500"/>
                                        <p:tgtEl>
                                          <p:spTgt spid="89"/>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2" fill="hold" nodeType="clickEffect">
                                  <p:stCondLst>
                                    <p:cond delay="0"/>
                                  </p:stCondLst>
                                  <p:childTnLst>
                                    <p:set>
                                      <p:cBhvr>
                                        <p:cTn id="205" dur="1" fill="hold">
                                          <p:stCondLst>
                                            <p:cond delay="0"/>
                                          </p:stCondLst>
                                        </p:cTn>
                                        <p:tgtEl>
                                          <p:spTgt spid="93"/>
                                        </p:tgtEl>
                                        <p:attrNameLst>
                                          <p:attrName>style.visibility</p:attrName>
                                        </p:attrNameLst>
                                      </p:cBhvr>
                                      <p:to>
                                        <p:strVal val="visible"/>
                                      </p:to>
                                    </p:set>
                                    <p:animEffect transition="in" filter="wipe(right)">
                                      <p:cBhvr>
                                        <p:cTn id="206" dur="500"/>
                                        <p:tgtEl>
                                          <p:spTgt spid="93"/>
                                        </p:tgtEl>
                                      </p:cBhvr>
                                    </p:animEffect>
                                  </p:childTnLst>
                                </p:cTn>
                              </p:par>
                              <p:par>
                                <p:cTn id="207" presetID="22" presetClass="entr" presetSubtype="2" fill="hold" grpId="0" nodeType="withEffect">
                                  <p:stCondLst>
                                    <p:cond delay="0"/>
                                  </p:stCondLst>
                                  <p:childTnLst>
                                    <p:set>
                                      <p:cBhvr>
                                        <p:cTn id="208" dur="1" fill="hold">
                                          <p:stCondLst>
                                            <p:cond delay="0"/>
                                          </p:stCondLst>
                                        </p:cTn>
                                        <p:tgtEl>
                                          <p:spTgt spid="95"/>
                                        </p:tgtEl>
                                        <p:attrNameLst>
                                          <p:attrName>style.visibility</p:attrName>
                                        </p:attrNameLst>
                                      </p:cBhvr>
                                      <p:to>
                                        <p:strVal val="visible"/>
                                      </p:to>
                                    </p:set>
                                    <p:animEffect transition="in" filter="wipe(right)">
                                      <p:cBhvr>
                                        <p:cTn id="209" dur="500"/>
                                        <p:tgtEl>
                                          <p:spTgt spid="95"/>
                                        </p:tgtEl>
                                      </p:cBhvr>
                                    </p:animEffect>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0"/>
                                  </p:stCondLst>
                                  <p:childTnLst>
                                    <p:set>
                                      <p:cBhvr>
                                        <p:cTn id="213" dur="1" fill="hold">
                                          <p:stCondLst>
                                            <p:cond delay="0"/>
                                          </p:stCondLst>
                                        </p:cTn>
                                        <p:tgtEl>
                                          <p:spTgt spid="107"/>
                                        </p:tgtEl>
                                        <p:attrNameLst>
                                          <p:attrName>style.visibility</p:attrName>
                                        </p:attrNameLst>
                                      </p:cBhvr>
                                      <p:to>
                                        <p:strVal val="visible"/>
                                      </p:to>
                                    </p:set>
                                    <p:animEffect transition="in" filter="fade">
                                      <p:cBhvr>
                                        <p:cTn id="214" dur="500"/>
                                        <p:tgtEl>
                                          <p:spTgt spid="107"/>
                                        </p:tgtEl>
                                      </p:cBhvr>
                                    </p:animEffect>
                                  </p:childTnLst>
                                </p:cTn>
                              </p:par>
                            </p:childTnLst>
                          </p:cTn>
                        </p:par>
                      </p:childTnLst>
                    </p:cTn>
                  </p:par>
                  <p:par>
                    <p:cTn id="215" fill="hold">
                      <p:stCondLst>
                        <p:cond delay="indefinite"/>
                      </p:stCondLst>
                      <p:childTnLst>
                        <p:par>
                          <p:cTn id="216" fill="hold">
                            <p:stCondLst>
                              <p:cond delay="0"/>
                            </p:stCondLst>
                            <p:childTnLst>
                              <p:par>
                                <p:cTn id="217" presetID="10" presetClass="entr" presetSubtype="0" fill="hold" grpId="0" nodeType="clickEffect">
                                  <p:stCondLst>
                                    <p:cond delay="0"/>
                                  </p:stCondLst>
                                  <p:childTnLst>
                                    <p:set>
                                      <p:cBhvr>
                                        <p:cTn id="218" dur="1" fill="hold">
                                          <p:stCondLst>
                                            <p:cond delay="0"/>
                                          </p:stCondLst>
                                        </p:cTn>
                                        <p:tgtEl>
                                          <p:spTgt spid="108"/>
                                        </p:tgtEl>
                                        <p:attrNameLst>
                                          <p:attrName>style.visibility</p:attrName>
                                        </p:attrNameLst>
                                      </p:cBhvr>
                                      <p:to>
                                        <p:strVal val="visible"/>
                                      </p:to>
                                    </p:set>
                                    <p:animEffect transition="in" filter="fade">
                                      <p:cBhvr>
                                        <p:cTn id="219" dur="500"/>
                                        <p:tgtEl>
                                          <p:spTgt spid="108"/>
                                        </p:tgtEl>
                                      </p:cBhvr>
                                    </p:animEffect>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0"/>
                                  </p:stCondLst>
                                  <p:childTnLst>
                                    <p:set>
                                      <p:cBhvr>
                                        <p:cTn id="223" dur="1" fill="hold">
                                          <p:stCondLst>
                                            <p:cond delay="0"/>
                                          </p:stCondLst>
                                        </p:cTn>
                                        <p:tgtEl>
                                          <p:spTgt spid="109"/>
                                        </p:tgtEl>
                                        <p:attrNameLst>
                                          <p:attrName>style.visibility</p:attrName>
                                        </p:attrNameLst>
                                      </p:cBhvr>
                                      <p:to>
                                        <p:strVal val="visible"/>
                                      </p:to>
                                    </p:set>
                                    <p:animEffect transition="in" filter="fade">
                                      <p:cBhvr>
                                        <p:cTn id="224" dur="500"/>
                                        <p:tgtEl>
                                          <p:spTgt spid="109"/>
                                        </p:tgtEl>
                                      </p:cBhvr>
                                    </p:animEffect>
                                  </p:childTnLst>
                                </p:cTn>
                              </p:par>
                            </p:childTnLst>
                          </p:cTn>
                        </p:par>
                      </p:childTnLst>
                    </p:cTn>
                  </p:par>
                  <p:par>
                    <p:cTn id="225" fill="hold">
                      <p:stCondLst>
                        <p:cond delay="indefinite"/>
                      </p:stCondLst>
                      <p:childTnLst>
                        <p:par>
                          <p:cTn id="226" fill="hold">
                            <p:stCondLst>
                              <p:cond delay="0"/>
                            </p:stCondLst>
                            <p:childTnLst>
                              <p:par>
                                <p:cTn id="227" presetID="10" presetClass="entr" presetSubtype="0" fill="hold" grpId="0" nodeType="clickEffect">
                                  <p:stCondLst>
                                    <p:cond delay="0"/>
                                  </p:stCondLst>
                                  <p:childTnLst>
                                    <p:set>
                                      <p:cBhvr>
                                        <p:cTn id="228" dur="1" fill="hold">
                                          <p:stCondLst>
                                            <p:cond delay="0"/>
                                          </p:stCondLst>
                                        </p:cTn>
                                        <p:tgtEl>
                                          <p:spTgt spid="110"/>
                                        </p:tgtEl>
                                        <p:attrNameLst>
                                          <p:attrName>style.visibility</p:attrName>
                                        </p:attrNameLst>
                                      </p:cBhvr>
                                      <p:to>
                                        <p:strVal val="visible"/>
                                      </p:to>
                                    </p:set>
                                    <p:animEffect transition="in" filter="fade">
                                      <p:cBhvr>
                                        <p:cTn id="229" dur="500"/>
                                        <p:tgtEl>
                                          <p:spTgt spid="110"/>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0"/>
                                  </p:stCondLst>
                                  <p:childTnLst>
                                    <p:set>
                                      <p:cBhvr>
                                        <p:cTn id="233" dur="1" fill="hold">
                                          <p:stCondLst>
                                            <p:cond delay="0"/>
                                          </p:stCondLst>
                                        </p:cTn>
                                        <p:tgtEl>
                                          <p:spTgt spid="111"/>
                                        </p:tgtEl>
                                        <p:attrNameLst>
                                          <p:attrName>style.visibility</p:attrName>
                                        </p:attrNameLst>
                                      </p:cBhvr>
                                      <p:to>
                                        <p:strVal val="visible"/>
                                      </p:to>
                                    </p:set>
                                    <p:animEffect transition="in" filter="fade">
                                      <p:cBhvr>
                                        <p:cTn id="234" dur="500"/>
                                        <p:tgtEl>
                                          <p:spTgt spid="111"/>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ntr" presetSubtype="0" fill="hold" grpId="0" nodeType="clickEffect">
                                  <p:stCondLst>
                                    <p:cond delay="0"/>
                                  </p:stCondLst>
                                  <p:childTnLst>
                                    <p:set>
                                      <p:cBhvr>
                                        <p:cTn id="238" dur="1" fill="hold">
                                          <p:stCondLst>
                                            <p:cond delay="0"/>
                                          </p:stCondLst>
                                        </p:cTn>
                                        <p:tgtEl>
                                          <p:spTgt spid="112"/>
                                        </p:tgtEl>
                                        <p:attrNameLst>
                                          <p:attrName>style.visibility</p:attrName>
                                        </p:attrNameLst>
                                      </p:cBhvr>
                                      <p:to>
                                        <p:strVal val="visible"/>
                                      </p:to>
                                    </p:set>
                                    <p:animEffect transition="in" filter="fade">
                                      <p:cBhvr>
                                        <p:cTn id="239" dur="500"/>
                                        <p:tgtEl>
                                          <p:spTgt spid="112"/>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clickEffect">
                                  <p:stCondLst>
                                    <p:cond delay="0"/>
                                  </p:stCondLst>
                                  <p:childTnLst>
                                    <p:set>
                                      <p:cBhvr>
                                        <p:cTn id="243" dur="1" fill="hold">
                                          <p:stCondLst>
                                            <p:cond delay="0"/>
                                          </p:stCondLst>
                                        </p:cTn>
                                        <p:tgtEl>
                                          <p:spTgt spid="13"/>
                                        </p:tgtEl>
                                        <p:attrNameLst>
                                          <p:attrName>style.visibility</p:attrName>
                                        </p:attrNameLst>
                                      </p:cBhvr>
                                      <p:to>
                                        <p:strVal val="visible"/>
                                      </p:to>
                                    </p:set>
                                    <p:animEffect transition="in" filter="fade">
                                      <p:cBhvr>
                                        <p:cTn id="2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22" grpId="0" animBg="1"/>
      <p:bldP spid="11" grpId="0" animBg="1"/>
      <p:bldP spid="7" grpId="0"/>
      <p:bldP spid="9" grpId="0"/>
      <p:bldP spid="10" grpId="0"/>
      <p:bldP spid="12" grpId="0"/>
      <p:bldP spid="13" grpId="0"/>
      <p:bldP spid="14" grpId="0"/>
      <p:bldP spid="15" grpId="0"/>
      <p:bldP spid="16" grpId="0"/>
      <p:bldP spid="19" grpId="0"/>
      <p:bldP spid="20" grpId="0"/>
      <p:bldP spid="23" grpId="0" animBg="1"/>
      <p:bldP spid="24" grpId="0" animBg="1"/>
      <p:bldP spid="25" grpId="0" animBg="1"/>
      <p:bldP spid="44" grpId="0"/>
      <p:bldP spid="45" grpId="0"/>
      <p:bldP spid="46" grpId="0"/>
      <p:bldP spid="47" grpId="0" animBg="1"/>
      <p:bldP spid="48" grpId="0"/>
      <p:bldP spid="49" grpId="0"/>
      <p:bldP spid="50" grpId="0"/>
      <p:bldP spid="51" grpId="0"/>
      <p:bldP spid="54" grpId="0"/>
      <p:bldP spid="57" grpId="0"/>
      <p:bldP spid="60" grpId="0"/>
      <p:bldP spid="61" grpId="0"/>
      <p:bldP spid="62" grpId="0" animBg="1"/>
      <p:bldP spid="63" grpId="0"/>
      <p:bldP spid="84" grpId="0"/>
      <p:bldP spid="86" grpId="0"/>
      <p:bldP spid="91" grpId="0"/>
      <p:bldP spid="95" grpId="0"/>
      <p:bldP spid="103" grpId="0" animBg="1"/>
      <p:bldP spid="105" grpId="0"/>
      <p:bldP spid="107" grpId="0"/>
      <p:bldP spid="108" grpId="0"/>
      <p:bldP spid="109" grpId="0"/>
      <p:bldP spid="110" grpId="0"/>
      <p:bldP spid="111" grpId="0"/>
      <p:bldP spid="1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831D8-E149-4B81-9A70-5AB1F9FAEB60}"/>
              </a:ext>
            </a:extLst>
          </p:cNvPr>
          <p:cNvSpPr>
            <a:spLocks noGrp="1"/>
          </p:cNvSpPr>
          <p:nvPr>
            <p:ph type="title"/>
          </p:nvPr>
        </p:nvSpPr>
        <p:spPr/>
        <p:txBody>
          <a:bodyPr/>
          <a:lstStyle/>
          <a:p>
            <a:r>
              <a:rPr lang="en-CA" dirty="0"/>
              <a:t>Step 3: Parsing Table</a:t>
            </a:r>
          </a:p>
        </p:txBody>
      </p:sp>
      <p:graphicFrame>
        <p:nvGraphicFramePr>
          <p:cNvPr id="4" name="Content Placeholder 3">
            <a:extLst>
              <a:ext uri="{FF2B5EF4-FFF2-40B4-BE49-F238E27FC236}">
                <a16:creationId xmlns:a16="http://schemas.microsoft.com/office/drawing/2014/main" id="{BF3DCF3A-DD42-46F9-B580-3ACA76B483AF}"/>
              </a:ext>
            </a:extLst>
          </p:cNvPr>
          <p:cNvGraphicFramePr>
            <a:graphicFrameLocks noGrp="1"/>
          </p:cNvGraphicFramePr>
          <p:nvPr>
            <p:ph idx="1"/>
            <p:extLst>
              <p:ext uri="{D42A27DB-BD31-4B8C-83A1-F6EECF244321}">
                <p14:modId xmlns:p14="http://schemas.microsoft.com/office/powerpoint/2010/main" val="1878955534"/>
              </p:ext>
            </p:extLst>
          </p:nvPr>
        </p:nvGraphicFramePr>
        <p:xfrm>
          <a:off x="1132114" y="1690688"/>
          <a:ext cx="5395686" cy="3535680"/>
        </p:xfrm>
        <a:graphic>
          <a:graphicData uri="http://schemas.openxmlformats.org/drawingml/2006/table">
            <a:tbl>
              <a:tblPr firstRow="1" bandRow="1">
                <a:tableStyleId>{F5AB1C69-6EDB-4FF4-983F-18BD219EF322}</a:tableStyleId>
              </a:tblPr>
              <a:tblGrid>
                <a:gridCol w="729661">
                  <a:extLst>
                    <a:ext uri="{9D8B030D-6E8A-4147-A177-3AD203B41FA5}">
                      <a16:colId xmlns:a16="http://schemas.microsoft.com/office/drawing/2014/main" val="1616733426"/>
                    </a:ext>
                  </a:extLst>
                </a:gridCol>
                <a:gridCol w="933205">
                  <a:extLst>
                    <a:ext uri="{9D8B030D-6E8A-4147-A177-3AD203B41FA5}">
                      <a16:colId xmlns:a16="http://schemas.microsoft.com/office/drawing/2014/main" val="527183212"/>
                    </a:ext>
                  </a:extLst>
                </a:gridCol>
                <a:gridCol w="933205">
                  <a:extLst>
                    <a:ext uri="{9D8B030D-6E8A-4147-A177-3AD203B41FA5}">
                      <a16:colId xmlns:a16="http://schemas.microsoft.com/office/drawing/2014/main" val="498259516"/>
                    </a:ext>
                  </a:extLst>
                </a:gridCol>
                <a:gridCol w="933205">
                  <a:extLst>
                    <a:ext uri="{9D8B030D-6E8A-4147-A177-3AD203B41FA5}">
                      <a16:colId xmlns:a16="http://schemas.microsoft.com/office/drawing/2014/main" val="1931052459"/>
                    </a:ext>
                  </a:extLst>
                </a:gridCol>
                <a:gridCol w="933205">
                  <a:extLst>
                    <a:ext uri="{9D8B030D-6E8A-4147-A177-3AD203B41FA5}">
                      <a16:colId xmlns:a16="http://schemas.microsoft.com/office/drawing/2014/main" val="954999697"/>
                    </a:ext>
                  </a:extLst>
                </a:gridCol>
                <a:gridCol w="933205">
                  <a:extLst>
                    <a:ext uri="{9D8B030D-6E8A-4147-A177-3AD203B41FA5}">
                      <a16:colId xmlns:a16="http://schemas.microsoft.com/office/drawing/2014/main" val="4080193908"/>
                    </a:ext>
                  </a:extLst>
                </a:gridCol>
              </a:tblGrid>
              <a:tr h="361983">
                <a:tc>
                  <a:txBody>
                    <a:bodyPr/>
                    <a:lstStyle/>
                    <a:p>
                      <a:pPr algn="ctr"/>
                      <a:r>
                        <a:rPr lang="en-CA" dirty="0">
                          <a:solidFill>
                            <a:schemeClr val="tx1"/>
                          </a:solidFill>
                          <a:latin typeface="Cambria" panose="02040503050406030204" pitchFamily="18" charset="0"/>
                          <a:ea typeface="Cambria" panose="02040503050406030204" pitchFamily="18" charset="0"/>
                        </a:rPr>
                        <a:t>State</a:t>
                      </a:r>
                    </a:p>
                  </a:txBody>
                  <a:tcPr/>
                </a:tc>
                <a:tc gridSpan="3">
                  <a:txBody>
                    <a:bodyPr/>
                    <a:lstStyle/>
                    <a:p>
                      <a:pPr algn="ctr"/>
                      <a:r>
                        <a:rPr lang="en-CA" dirty="0">
                          <a:solidFill>
                            <a:schemeClr val="tx1"/>
                          </a:solidFill>
                          <a:latin typeface="Cambria" panose="02040503050406030204" pitchFamily="18" charset="0"/>
                          <a:ea typeface="Cambria" panose="02040503050406030204" pitchFamily="18" charset="0"/>
                        </a:rPr>
                        <a:t>Action</a:t>
                      </a:r>
                    </a:p>
                  </a:txBody>
                  <a:tcPr/>
                </a:tc>
                <a:tc hMerge="1">
                  <a:txBody>
                    <a:bodyPr/>
                    <a:lstStyle/>
                    <a:p>
                      <a:endParaRPr lang="en-CA" dirty="0"/>
                    </a:p>
                  </a:txBody>
                  <a:tcPr/>
                </a:tc>
                <a:tc hMerge="1">
                  <a:txBody>
                    <a:bodyPr/>
                    <a:lstStyle/>
                    <a:p>
                      <a:endParaRPr lang="en-CA" dirty="0"/>
                    </a:p>
                  </a:txBody>
                  <a:tcPr/>
                </a:tc>
                <a:tc gridSpan="2">
                  <a:txBody>
                    <a:bodyPr/>
                    <a:lstStyle/>
                    <a:p>
                      <a:pPr algn="ctr"/>
                      <a:r>
                        <a:rPr lang="en-CA" dirty="0" err="1">
                          <a:solidFill>
                            <a:schemeClr val="tx1"/>
                          </a:solidFill>
                          <a:latin typeface="Cambria" panose="02040503050406030204" pitchFamily="18" charset="0"/>
                          <a:ea typeface="Cambria" panose="02040503050406030204" pitchFamily="18" charset="0"/>
                        </a:rPr>
                        <a:t>Goto</a:t>
                      </a:r>
                      <a:endParaRPr lang="en-CA" dirty="0">
                        <a:solidFill>
                          <a:schemeClr val="tx1"/>
                        </a:solidFill>
                        <a:latin typeface="Cambria" panose="02040503050406030204" pitchFamily="18" charset="0"/>
                        <a:ea typeface="Cambria" panose="02040503050406030204" pitchFamily="18" charset="0"/>
                      </a:endParaRPr>
                    </a:p>
                  </a:txBody>
                  <a:tcPr/>
                </a:tc>
                <a:tc hMerge="1">
                  <a:txBody>
                    <a:bodyPr/>
                    <a:lstStyle/>
                    <a:p>
                      <a:endParaRPr lang="en-CA" dirty="0"/>
                    </a:p>
                  </a:txBody>
                  <a:tcPr/>
                </a:tc>
                <a:extLst>
                  <a:ext uri="{0D108BD9-81ED-4DB2-BD59-A6C34878D82A}">
                    <a16:rowId xmlns:a16="http://schemas.microsoft.com/office/drawing/2014/main" val="2027370823"/>
                  </a:ext>
                </a:extLst>
              </a:tr>
              <a:tr h="392148">
                <a:tc>
                  <a:txBody>
                    <a:bodyPr/>
                    <a:lstStyle/>
                    <a:p>
                      <a:pPr algn="ctr"/>
                      <a:endParaRPr lang="en-CA" sz="20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c </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 </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B</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E</a:t>
                      </a:r>
                    </a:p>
                  </a:txBody>
                  <a:tcPr/>
                </a:tc>
                <a:extLst>
                  <a:ext uri="{0D108BD9-81ED-4DB2-BD59-A6C34878D82A}">
                    <a16:rowId xmlns:a16="http://schemas.microsoft.com/office/drawing/2014/main" val="1323684981"/>
                  </a:ext>
                </a:extLst>
              </a:tr>
              <a:tr h="392148">
                <a:tc>
                  <a:txBody>
                    <a:bodyPr/>
                    <a:lstStyle/>
                    <a:p>
                      <a:pPr algn="ct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0</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4118785042"/>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1</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Accept</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879305771"/>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2</a:t>
                      </a:r>
                      <a:endParaRPr lang="en-CA" sz="18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5</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645141652"/>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3</a:t>
                      </a:r>
                      <a:endParaRPr lang="en-CA" sz="18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6</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88419533"/>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828352706"/>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5</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143769415"/>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623938245"/>
                  </a:ext>
                </a:extLst>
              </a:tr>
            </a:tbl>
          </a:graphicData>
        </a:graphic>
      </p:graphicFrame>
      <p:pic>
        <p:nvPicPr>
          <p:cNvPr id="5" name="Picture 4">
            <a:extLst>
              <a:ext uri="{FF2B5EF4-FFF2-40B4-BE49-F238E27FC236}">
                <a16:creationId xmlns:a16="http://schemas.microsoft.com/office/drawing/2014/main" id="{B53EB51E-A0A8-4244-A099-6CABFBE5AF13}"/>
              </a:ext>
            </a:extLst>
          </p:cNvPr>
          <p:cNvPicPr>
            <a:picLocks noChangeAspect="1"/>
          </p:cNvPicPr>
          <p:nvPr/>
        </p:nvPicPr>
        <p:blipFill>
          <a:blip r:embed="rId2"/>
          <a:stretch>
            <a:fillRect/>
          </a:stretch>
        </p:blipFill>
        <p:spPr>
          <a:xfrm>
            <a:off x="6662799" y="1412732"/>
            <a:ext cx="5306610" cy="3115725"/>
          </a:xfrm>
          <a:prstGeom prst="rect">
            <a:avLst/>
          </a:prstGeom>
        </p:spPr>
      </p:pic>
      <p:pic>
        <p:nvPicPr>
          <p:cNvPr id="6" name="Picture 5">
            <a:extLst>
              <a:ext uri="{FF2B5EF4-FFF2-40B4-BE49-F238E27FC236}">
                <a16:creationId xmlns:a16="http://schemas.microsoft.com/office/drawing/2014/main" id="{43CDBE54-787E-430C-9199-AA6820EA1D1F}"/>
              </a:ext>
            </a:extLst>
          </p:cNvPr>
          <p:cNvPicPr>
            <a:picLocks noChangeAspect="1"/>
          </p:cNvPicPr>
          <p:nvPr/>
        </p:nvPicPr>
        <p:blipFill>
          <a:blip r:embed="rId3"/>
          <a:stretch>
            <a:fillRect/>
          </a:stretch>
        </p:blipFill>
        <p:spPr>
          <a:xfrm>
            <a:off x="7431679" y="4528457"/>
            <a:ext cx="1276528" cy="1505160"/>
          </a:xfrm>
          <a:prstGeom prst="rect">
            <a:avLst/>
          </a:prstGeom>
        </p:spPr>
      </p:pic>
    </p:spTree>
    <p:extLst>
      <p:ext uri="{BB962C8B-B14F-4D97-AF65-F5344CB8AC3E}">
        <p14:creationId xmlns:p14="http://schemas.microsoft.com/office/powerpoint/2010/main" val="2648610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D0A9-37C1-4C51-88B1-699B97EB6298}"/>
              </a:ext>
            </a:extLst>
          </p:cNvPr>
          <p:cNvSpPr>
            <a:spLocks noGrp="1"/>
          </p:cNvSpPr>
          <p:nvPr>
            <p:ph type="title"/>
          </p:nvPr>
        </p:nvSpPr>
        <p:spPr/>
        <p:txBody>
          <a:bodyPr/>
          <a:lstStyle/>
          <a:p>
            <a:r>
              <a:rPr lang="en-CA" dirty="0"/>
              <a:t>Step 4: Stack Implementation</a:t>
            </a:r>
          </a:p>
        </p:txBody>
      </p:sp>
      <p:graphicFrame>
        <p:nvGraphicFramePr>
          <p:cNvPr id="4" name="Content Placeholder 3">
            <a:extLst>
              <a:ext uri="{FF2B5EF4-FFF2-40B4-BE49-F238E27FC236}">
                <a16:creationId xmlns:a16="http://schemas.microsoft.com/office/drawing/2014/main" id="{2B74EFDB-6D16-4423-BFD9-67AC3DC648C7}"/>
              </a:ext>
            </a:extLst>
          </p:cNvPr>
          <p:cNvGraphicFramePr>
            <a:graphicFrameLocks noGrp="1"/>
          </p:cNvGraphicFramePr>
          <p:nvPr>
            <p:ph idx="1"/>
            <p:extLst>
              <p:ext uri="{D42A27DB-BD31-4B8C-83A1-F6EECF244321}">
                <p14:modId xmlns:p14="http://schemas.microsoft.com/office/powerpoint/2010/main" val="3182963832"/>
              </p:ext>
            </p:extLst>
          </p:nvPr>
        </p:nvGraphicFramePr>
        <p:xfrm>
          <a:off x="5744030" y="1690688"/>
          <a:ext cx="6244770" cy="4635048"/>
        </p:xfrm>
        <a:graphic>
          <a:graphicData uri="http://schemas.openxmlformats.org/drawingml/2006/table">
            <a:tbl>
              <a:tblPr firstRow="1" bandRow="1">
                <a:tableStyleId>{F5AB1C69-6EDB-4FF4-983F-18BD219EF322}</a:tableStyleId>
              </a:tblPr>
              <a:tblGrid>
                <a:gridCol w="2081590">
                  <a:extLst>
                    <a:ext uri="{9D8B030D-6E8A-4147-A177-3AD203B41FA5}">
                      <a16:colId xmlns:a16="http://schemas.microsoft.com/office/drawing/2014/main" val="1259456047"/>
                    </a:ext>
                  </a:extLst>
                </a:gridCol>
                <a:gridCol w="2081590">
                  <a:extLst>
                    <a:ext uri="{9D8B030D-6E8A-4147-A177-3AD203B41FA5}">
                      <a16:colId xmlns:a16="http://schemas.microsoft.com/office/drawing/2014/main" val="2147854744"/>
                    </a:ext>
                  </a:extLst>
                </a:gridCol>
                <a:gridCol w="2081590">
                  <a:extLst>
                    <a:ext uri="{9D8B030D-6E8A-4147-A177-3AD203B41FA5}">
                      <a16:colId xmlns:a16="http://schemas.microsoft.com/office/drawing/2014/main" val="3213596180"/>
                    </a:ext>
                  </a:extLst>
                </a:gridCol>
              </a:tblGrid>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Stack</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Input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Action</a:t>
                      </a:r>
                    </a:p>
                  </a:txBody>
                  <a:tcPr/>
                </a:tc>
                <a:extLst>
                  <a:ext uri="{0D108BD9-81ED-4DB2-BD59-A6C34878D82A}">
                    <a16:rowId xmlns:a16="http://schemas.microsoft.com/office/drawing/2014/main" val="751079733"/>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a:t>
                      </a:r>
                      <a:r>
                        <a:rPr lang="en-CA" sz="2000" dirty="0">
                          <a:solidFill>
                            <a:schemeClr val="accent1"/>
                          </a:solidFill>
                          <a:latin typeface="Cambria" panose="02040503050406030204" pitchFamily="18" charset="0"/>
                          <a:ea typeface="Cambria" panose="02040503050406030204" pitchFamily="18" charset="0"/>
                        </a:rPr>
                        <a:t>0</a:t>
                      </a:r>
                    </a:p>
                  </a:txBody>
                  <a:tcPr/>
                </a:tc>
                <a:tc>
                  <a:txBody>
                    <a:bodyPr/>
                    <a:lstStyle/>
                    <a:p>
                      <a:pPr algn="ctr"/>
                      <a:r>
                        <a:rPr lang="en-CA" sz="2000" dirty="0" err="1">
                          <a:solidFill>
                            <a:srgbClr val="FF0000"/>
                          </a:solidFill>
                          <a:latin typeface="Cambria" panose="02040503050406030204" pitchFamily="18" charset="0"/>
                          <a:ea typeface="Cambria" panose="02040503050406030204" pitchFamily="18" charset="0"/>
                        </a:rPr>
                        <a:t>c</a:t>
                      </a:r>
                      <a:r>
                        <a:rPr lang="en-CA" sz="2000" dirty="0" err="1">
                          <a:solidFill>
                            <a:schemeClr val="tx1"/>
                          </a:solidFill>
                          <a:latin typeface="Cambria" panose="02040503050406030204" pitchFamily="18" charset="0"/>
                          <a:ea typeface="Cambria" panose="02040503050406030204" pitchFamily="18" charset="0"/>
                        </a:rPr>
                        <a:t>cdd</a:t>
                      </a: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c → </a:t>
                      </a:r>
                      <a:r>
                        <a:rPr lang="en-CA" sz="2000" dirty="0">
                          <a:solidFill>
                            <a:srgbClr val="7030A0"/>
                          </a:solidFill>
                          <a:latin typeface="Cambria" panose="02040503050406030204" pitchFamily="18" charset="0"/>
                          <a:ea typeface="Cambria" panose="02040503050406030204" pitchFamily="18" charset="0"/>
                        </a:rPr>
                        <a:t>S3</a:t>
                      </a:r>
                    </a:p>
                  </a:txBody>
                  <a:tcPr/>
                </a:tc>
                <a:extLst>
                  <a:ext uri="{0D108BD9-81ED-4DB2-BD59-A6C34878D82A}">
                    <a16:rowId xmlns:a16="http://schemas.microsoft.com/office/drawing/2014/main" val="2730531951"/>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a:t>
                      </a:r>
                      <a:r>
                        <a:rPr lang="en-CA" sz="2000" dirty="0">
                          <a:solidFill>
                            <a:srgbClr val="FF0000"/>
                          </a:solidFill>
                          <a:latin typeface="Cambria" panose="02040503050406030204" pitchFamily="18" charset="0"/>
                          <a:ea typeface="Cambria" panose="02040503050406030204" pitchFamily="18" charset="0"/>
                        </a:rPr>
                        <a:t>c</a:t>
                      </a:r>
                      <a:r>
                        <a:rPr lang="en-CA" sz="2000" dirty="0">
                          <a:solidFill>
                            <a:srgbClr val="7030A0"/>
                          </a:solidFill>
                          <a:latin typeface="Cambria" panose="02040503050406030204" pitchFamily="18" charset="0"/>
                          <a:ea typeface="Cambria" panose="02040503050406030204" pitchFamily="18" charset="0"/>
                        </a:rPr>
                        <a:t>3</a:t>
                      </a:r>
                    </a:p>
                  </a:txBody>
                  <a:tcPr/>
                </a:tc>
                <a:tc>
                  <a:txBody>
                    <a:bodyPr/>
                    <a:lstStyle/>
                    <a:p>
                      <a:pPr algn="ctr"/>
                      <a:r>
                        <a:rPr lang="en-CA" sz="2000" dirty="0" err="1">
                          <a:solidFill>
                            <a:schemeClr val="tx1"/>
                          </a:solidFill>
                          <a:latin typeface="Cambria" panose="02040503050406030204" pitchFamily="18" charset="0"/>
                          <a:ea typeface="Cambria" panose="02040503050406030204" pitchFamily="18" charset="0"/>
                        </a:rPr>
                        <a:t>cdd</a:t>
                      </a: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c → S3</a:t>
                      </a:r>
                    </a:p>
                  </a:txBody>
                  <a:tcPr/>
                </a:tc>
                <a:extLst>
                  <a:ext uri="{0D108BD9-81ED-4DB2-BD59-A6C34878D82A}">
                    <a16:rowId xmlns:a16="http://schemas.microsoft.com/office/drawing/2014/main" val="180241647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d → S4</a:t>
                      </a:r>
                    </a:p>
                  </a:txBody>
                  <a:tcPr/>
                </a:tc>
                <a:extLst>
                  <a:ext uri="{0D108BD9-81ED-4DB2-BD59-A6C34878D82A}">
                    <a16:rowId xmlns:a16="http://schemas.microsoft.com/office/drawing/2014/main" val="53674395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$0c3c3d4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d</a:t>
                      </a:r>
                    </a:p>
                  </a:txBody>
                  <a:tcPr/>
                </a:tc>
                <a:extLst>
                  <a:ext uri="{0D108BD9-81ED-4DB2-BD59-A6C34878D82A}">
                    <a16:rowId xmlns:a16="http://schemas.microsoft.com/office/drawing/2014/main" val="1474904864"/>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a:t>
                      </a:r>
                      <a:r>
                        <a:rPr lang="en-CA" sz="2000" dirty="0">
                          <a:solidFill>
                            <a:srgbClr val="7030A0"/>
                          </a:solidFill>
                          <a:latin typeface="Cambria" panose="02040503050406030204" pitchFamily="18" charset="0"/>
                          <a:ea typeface="Cambria" panose="02040503050406030204" pitchFamily="18" charset="0"/>
                        </a:rPr>
                        <a:t>B</a:t>
                      </a:r>
                      <a:r>
                        <a:rPr lang="en-CA" sz="2000" dirty="0">
                          <a:solidFill>
                            <a:srgbClr val="00B0F0"/>
                          </a:solidFill>
                          <a:latin typeface="Cambria" panose="02040503050406030204" pitchFamily="18" charset="0"/>
                          <a:ea typeface="Cambria" panose="02040503050406030204" pitchFamily="18" charset="0"/>
                        </a:rPr>
                        <a:t>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a:t>
                      </a:r>
                      <a:r>
                        <a:rPr lang="en-CA" sz="2000" dirty="0" err="1">
                          <a:solidFill>
                            <a:schemeClr val="tx1"/>
                          </a:solidFill>
                          <a:latin typeface="Cambria" panose="02040503050406030204" pitchFamily="18" charset="0"/>
                          <a:ea typeface="Cambria" panose="02040503050406030204" pitchFamily="18" charset="0"/>
                        </a:rPr>
                        <a:t>cB</a:t>
                      </a: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290297623"/>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$0c3B6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a:t>
                      </a:r>
                      <a:r>
                        <a:rPr lang="en-CA" sz="2000" dirty="0" err="1">
                          <a:solidFill>
                            <a:schemeClr val="tx1"/>
                          </a:solidFill>
                          <a:latin typeface="Cambria" panose="02040503050406030204" pitchFamily="18" charset="0"/>
                          <a:ea typeface="Cambria" panose="02040503050406030204" pitchFamily="18" charset="0"/>
                        </a:rPr>
                        <a:t>cB</a:t>
                      </a: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146067371"/>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d → S4</a:t>
                      </a:r>
                    </a:p>
                  </a:txBody>
                  <a:tcPr/>
                </a:tc>
                <a:extLst>
                  <a:ext uri="{0D108BD9-81ED-4DB2-BD59-A6C34878D82A}">
                    <a16:rowId xmlns:a16="http://schemas.microsoft.com/office/drawing/2014/main" val="180769437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$0B2d4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d</a:t>
                      </a:r>
                    </a:p>
                  </a:txBody>
                  <a:tcPr/>
                </a:tc>
                <a:extLst>
                  <a:ext uri="{0D108BD9-81ED-4DB2-BD59-A6C34878D82A}">
                    <a16:rowId xmlns:a16="http://schemas.microsoft.com/office/drawing/2014/main" val="2353855684"/>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$0B2B5</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E → BB</a:t>
                      </a:r>
                    </a:p>
                  </a:txBody>
                  <a:tcPr/>
                </a:tc>
                <a:extLst>
                  <a:ext uri="{0D108BD9-81ED-4DB2-BD59-A6C34878D82A}">
                    <a16:rowId xmlns:a16="http://schemas.microsoft.com/office/drawing/2014/main" val="2813479318"/>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$0E1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Accept</a:t>
                      </a:r>
                    </a:p>
                  </a:txBody>
                  <a:tcPr/>
                </a:tc>
                <a:extLst>
                  <a:ext uri="{0D108BD9-81ED-4DB2-BD59-A6C34878D82A}">
                    <a16:rowId xmlns:a16="http://schemas.microsoft.com/office/drawing/2014/main" val="3039960195"/>
                  </a:ext>
                </a:extLst>
              </a:tr>
            </a:tbl>
          </a:graphicData>
        </a:graphic>
      </p:graphicFrame>
      <p:graphicFrame>
        <p:nvGraphicFramePr>
          <p:cNvPr id="5" name="Content Placeholder 3">
            <a:extLst>
              <a:ext uri="{FF2B5EF4-FFF2-40B4-BE49-F238E27FC236}">
                <a16:creationId xmlns:a16="http://schemas.microsoft.com/office/drawing/2014/main" id="{640E2872-5238-48A7-B19C-A897AC46C5F9}"/>
              </a:ext>
            </a:extLst>
          </p:cNvPr>
          <p:cNvGraphicFramePr>
            <a:graphicFrameLocks/>
          </p:cNvGraphicFramePr>
          <p:nvPr>
            <p:extLst>
              <p:ext uri="{D42A27DB-BD31-4B8C-83A1-F6EECF244321}">
                <p14:modId xmlns:p14="http://schemas.microsoft.com/office/powerpoint/2010/main" val="153022498"/>
              </p:ext>
            </p:extLst>
          </p:nvPr>
        </p:nvGraphicFramePr>
        <p:xfrm>
          <a:off x="203200" y="1690688"/>
          <a:ext cx="5395686" cy="3535680"/>
        </p:xfrm>
        <a:graphic>
          <a:graphicData uri="http://schemas.openxmlformats.org/drawingml/2006/table">
            <a:tbl>
              <a:tblPr firstRow="1" bandRow="1">
                <a:tableStyleId>{F5AB1C69-6EDB-4FF4-983F-18BD219EF322}</a:tableStyleId>
              </a:tblPr>
              <a:tblGrid>
                <a:gridCol w="729661">
                  <a:extLst>
                    <a:ext uri="{9D8B030D-6E8A-4147-A177-3AD203B41FA5}">
                      <a16:colId xmlns:a16="http://schemas.microsoft.com/office/drawing/2014/main" val="1616733426"/>
                    </a:ext>
                  </a:extLst>
                </a:gridCol>
                <a:gridCol w="933205">
                  <a:extLst>
                    <a:ext uri="{9D8B030D-6E8A-4147-A177-3AD203B41FA5}">
                      <a16:colId xmlns:a16="http://schemas.microsoft.com/office/drawing/2014/main" val="527183212"/>
                    </a:ext>
                  </a:extLst>
                </a:gridCol>
                <a:gridCol w="933205">
                  <a:extLst>
                    <a:ext uri="{9D8B030D-6E8A-4147-A177-3AD203B41FA5}">
                      <a16:colId xmlns:a16="http://schemas.microsoft.com/office/drawing/2014/main" val="498259516"/>
                    </a:ext>
                  </a:extLst>
                </a:gridCol>
                <a:gridCol w="933205">
                  <a:extLst>
                    <a:ext uri="{9D8B030D-6E8A-4147-A177-3AD203B41FA5}">
                      <a16:colId xmlns:a16="http://schemas.microsoft.com/office/drawing/2014/main" val="1931052459"/>
                    </a:ext>
                  </a:extLst>
                </a:gridCol>
                <a:gridCol w="933205">
                  <a:extLst>
                    <a:ext uri="{9D8B030D-6E8A-4147-A177-3AD203B41FA5}">
                      <a16:colId xmlns:a16="http://schemas.microsoft.com/office/drawing/2014/main" val="954999697"/>
                    </a:ext>
                  </a:extLst>
                </a:gridCol>
                <a:gridCol w="933205">
                  <a:extLst>
                    <a:ext uri="{9D8B030D-6E8A-4147-A177-3AD203B41FA5}">
                      <a16:colId xmlns:a16="http://schemas.microsoft.com/office/drawing/2014/main" val="4080193908"/>
                    </a:ext>
                  </a:extLst>
                </a:gridCol>
              </a:tblGrid>
              <a:tr h="361983">
                <a:tc>
                  <a:txBody>
                    <a:bodyPr/>
                    <a:lstStyle/>
                    <a:p>
                      <a:pPr algn="ctr"/>
                      <a:r>
                        <a:rPr lang="en-CA" dirty="0">
                          <a:solidFill>
                            <a:schemeClr val="tx1"/>
                          </a:solidFill>
                          <a:latin typeface="Cambria" panose="02040503050406030204" pitchFamily="18" charset="0"/>
                          <a:ea typeface="Cambria" panose="02040503050406030204" pitchFamily="18" charset="0"/>
                        </a:rPr>
                        <a:t>State</a:t>
                      </a:r>
                    </a:p>
                  </a:txBody>
                  <a:tcPr/>
                </a:tc>
                <a:tc gridSpan="3">
                  <a:txBody>
                    <a:bodyPr/>
                    <a:lstStyle/>
                    <a:p>
                      <a:pPr algn="ctr"/>
                      <a:r>
                        <a:rPr lang="en-CA" dirty="0">
                          <a:solidFill>
                            <a:schemeClr val="tx1"/>
                          </a:solidFill>
                          <a:latin typeface="Cambria" panose="02040503050406030204" pitchFamily="18" charset="0"/>
                          <a:ea typeface="Cambria" panose="02040503050406030204" pitchFamily="18" charset="0"/>
                        </a:rPr>
                        <a:t>Action</a:t>
                      </a:r>
                    </a:p>
                  </a:txBody>
                  <a:tcPr/>
                </a:tc>
                <a:tc hMerge="1">
                  <a:txBody>
                    <a:bodyPr/>
                    <a:lstStyle/>
                    <a:p>
                      <a:endParaRPr lang="en-CA" dirty="0"/>
                    </a:p>
                  </a:txBody>
                  <a:tcPr/>
                </a:tc>
                <a:tc hMerge="1">
                  <a:txBody>
                    <a:bodyPr/>
                    <a:lstStyle/>
                    <a:p>
                      <a:endParaRPr lang="en-CA" dirty="0"/>
                    </a:p>
                  </a:txBody>
                  <a:tcPr/>
                </a:tc>
                <a:tc gridSpan="2">
                  <a:txBody>
                    <a:bodyPr/>
                    <a:lstStyle/>
                    <a:p>
                      <a:pPr algn="ctr"/>
                      <a:r>
                        <a:rPr lang="en-CA" dirty="0" err="1">
                          <a:solidFill>
                            <a:schemeClr val="tx1"/>
                          </a:solidFill>
                          <a:latin typeface="Cambria" panose="02040503050406030204" pitchFamily="18" charset="0"/>
                          <a:ea typeface="Cambria" panose="02040503050406030204" pitchFamily="18" charset="0"/>
                        </a:rPr>
                        <a:t>Goto</a:t>
                      </a:r>
                      <a:endParaRPr lang="en-CA" dirty="0">
                        <a:solidFill>
                          <a:schemeClr val="tx1"/>
                        </a:solidFill>
                        <a:latin typeface="Cambria" panose="02040503050406030204" pitchFamily="18" charset="0"/>
                        <a:ea typeface="Cambria" panose="02040503050406030204" pitchFamily="18" charset="0"/>
                      </a:endParaRPr>
                    </a:p>
                  </a:txBody>
                  <a:tcPr/>
                </a:tc>
                <a:tc hMerge="1">
                  <a:txBody>
                    <a:bodyPr/>
                    <a:lstStyle/>
                    <a:p>
                      <a:endParaRPr lang="en-CA" dirty="0"/>
                    </a:p>
                  </a:txBody>
                  <a:tcPr/>
                </a:tc>
                <a:extLst>
                  <a:ext uri="{0D108BD9-81ED-4DB2-BD59-A6C34878D82A}">
                    <a16:rowId xmlns:a16="http://schemas.microsoft.com/office/drawing/2014/main" val="2027370823"/>
                  </a:ext>
                </a:extLst>
              </a:tr>
              <a:tr h="392148">
                <a:tc>
                  <a:txBody>
                    <a:bodyPr/>
                    <a:lstStyle/>
                    <a:p>
                      <a:pPr algn="ctr"/>
                      <a:endParaRPr lang="en-CA" sz="20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rgbClr val="FF0000"/>
                          </a:solidFill>
                          <a:latin typeface="Cambria" panose="02040503050406030204" pitchFamily="18" charset="0"/>
                          <a:ea typeface="Cambria" panose="02040503050406030204" pitchFamily="18" charset="0"/>
                        </a:rPr>
                        <a:t>c </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 </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B</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E</a:t>
                      </a:r>
                    </a:p>
                  </a:txBody>
                  <a:tcPr/>
                </a:tc>
                <a:extLst>
                  <a:ext uri="{0D108BD9-81ED-4DB2-BD59-A6C34878D82A}">
                    <a16:rowId xmlns:a16="http://schemas.microsoft.com/office/drawing/2014/main" val="1323684981"/>
                  </a:ext>
                </a:extLst>
              </a:tr>
              <a:tr h="392148">
                <a:tc>
                  <a:txBody>
                    <a:bodyPr/>
                    <a:lstStyle/>
                    <a:p>
                      <a:pPr algn="ct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accent1"/>
                          </a:solidFill>
                          <a:latin typeface="Cambria" panose="02040503050406030204" pitchFamily="18" charset="0"/>
                          <a:ea typeface="Cambria" panose="02040503050406030204" pitchFamily="18" charset="0"/>
                        </a:rPr>
                        <a:t>0</a:t>
                      </a:r>
                    </a:p>
                  </a:txBody>
                  <a:tcPr/>
                </a:tc>
                <a:tc>
                  <a:txBody>
                    <a:bodyPr/>
                    <a:lstStyle/>
                    <a:p>
                      <a:pPr algn="ctr"/>
                      <a:r>
                        <a:rPr lang="en-CA" sz="2000" dirty="0">
                          <a:solidFill>
                            <a:srgbClr val="7030A0"/>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4118785042"/>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1</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Accept</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879305771"/>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2</a:t>
                      </a:r>
                      <a:endParaRPr lang="en-CA" sz="18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5</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645141652"/>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3</a:t>
                      </a:r>
                      <a:endParaRPr lang="en-CA" sz="1800" baseline="-25000" dirty="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S4</a:t>
                      </a:r>
                    </a:p>
                  </a:txBody>
                  <a:tcPr/>
                </a:tc>
                <a:tc>
                  <a:txBody>
                    <a:bodyPr/>
                    <a:lstStyle/>
                    <a:p>
                      <a:pPr algn="ctr"/>
                      <a:endParaRPr lang="en-CA" sz="2000">
                        <a:solidFill>
                          <a:schemeClr val="tx1"/>
                        </a:solidFill>
                        <a:latin typeface="Cambria" panose="02040503050406030204" pitchFamily="18" charset="0"/>
                        <a:ea typeface="Cambria" panose="02040503050406030204" pitchFamily="18" charset="0"/>
                      </a:endParaRP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6</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88419533"/>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R3</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828352706"/>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5</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R1</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143769415"/>
                  </a:ext>
                </a:extLst>
              </a:tr>
              <a:tr h="3921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Cambria" panose="02040503050406030204" pitchFamily="18" charset="0"/>
                          <a:ea typeface="Cambria" panose="02040503050406030204" pitchFamily="18" charset="0"/>
                        </a:rPr>
                        <a:t>I</a:t>
                      </a:r>
                      <a:r>
                        <a:rPr lang="en-CA" sz="2000" baseline="-25000" dirty="0">
                          <a:solidFill>
                            <a:schemeClr val="tx1"/>
                          </a:solidFill>
                          <a:latin typeface="Cambria" panose="02040503050406030204" pitchFamily="18" charset="0"/>
                          <a:ea typeface="Cambria" panose="02040503050406030204" pitchFamily="18" charset="0"/>
                        </a:rPr>
                        <a:t>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R2</a:t>
                      </a: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tc>
                  <a:txBody>
                    <a:bodyPr/>
                    <a:lstStyle/>
                    <a:p>
                      <a:pPr algn="ct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623938245"/>
                  </a:ext>
                </a:extLst>
              </a:tr>
            </a:tbl>
          </a:graphicData>
        </a:graphic>
      </p:graphicFrame>
      <p:pic>
        <p:nvPicPr>
          <p:cNvPr id="6" name="Picture 5">
            <a:extLst>
              <a:ext uri="{FF2B5EF4-FFF2-40B4-BE49-F238E27FC236}">
                <a16:creationId xmlns:a16="http://schemas.microsoft.com/office/drawing/2014/main" id="{CAA4199A-E07D-4400-8FA6-EF96039ABFF1}"/>
              </a:ext>
            </a:extLst>
          </p:cNvPr>
          <p:cNvPicPr>
            <a:picLocks noChangeAspect="1"/>
          </p:cNvPicPr>
          <p:nvPr/>
        </p:nvPicPr>
        <p:blipFill>
          <a:blip r:embed="rId2"/>
          <a:stretch>
            <a:fillRect/>
          </a:stretch>
        </p:blipFill>
        <p:spPr>
          <a:xfrm>
            <a:off x="4322358" y="4720201"/>
            <a:ext cx="1276528" cy="1505160"/>
          </a:xfrm>
          <a:prstGeom prst="rect">
            <a:avLst/>
          </a:prstGeom>
        </p:spPr>
      </p:pic>
    </p:spTree>
    <p:extLst>
      <p:ext uri="{BB962C8B-B14F-4D97-AF65-F5344CB8AC3E}">
        <p14:creationId xmlns:p14="http://schemas.microsoft.com/office/powerpoint/2010/main" val="4194162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B0E-C9DB-44A6-8065-310F6A774A5D}"/>
              </a:ext>
            </a:extLst>
          </p:cNvPr>
          <p:cNvSpPr>
            <a:spLocks noGrp="1"/>
          </p:cNvSpPr>
          <p:nvPr>
            <p:ph type="title"/>
          </p:nvPr>
        </p:nvSpPr>
        <p:spPr/>
        <p:txBody>
          <a:bodyPr/>
          <a:lstStyle/>
          <a:p>
            <a:r>
              <a:rPr lang="en-CA" dirty="0"/>
              <a:t>Step 5: Parse Tree</a:t>
            </a:r>
          </a:p>
        </p:txBody>
      </p:sp>
      <p:sp>
        <p:nvSpPr>
          <p:cNvPr id="3" name="Content Placeholder 2">
            <a:extLst>
              <a:ext uri="{FF2B5EF4-FFF2-40B4-BE49-F238E27FC236}">
                <a16:creationId xmlns:a16="http://schemas.microsoft.com/office/drawing/2014/main" id="{96A441FA-285F-4AE1-BD70-21B6569ECA78}"/>
              </a:ext>
            </a:extLst>
          </p:cNvPr>
          <p:cNvSpPr>
            <a:spLocks noGrp="1"/>
          </p:cNvSpPr>
          <p:nvPr>
            <p:ph idx="1"/>
          </p:nvPr>
        </p:nvSpPr>
        <p:spPr>
          <a:xfrm>
            <a:off x="6313714" y="1825625"/>
            <a:ext cx="5040086" cy="4351338"/>
          </a:xfrm>
        </p:spPr>
        <p:txBody>
          <a:bodyPr>
            <a:normAutofit lnSpcReduction="10000"/>
          </a:bodyPr>
          <a:lstStyle/>
          <a:p>
            <a:pPr marL="0" indent="0" algn="ctr">
              <a:buNone/>
            </a:pPr>
            <a:r>
              <a:rPr lang="en-CA" dirty="0"/>
              <a:t>        E</a:t>
            </a:r>
          </a:p>
          <a:p>
            <a:pPr marL="0" indent="0" algn="ctr">
              <a:buNone/>
            </a:pPr>
            <a:r>
              <a:rPr lang="en-CA" dirty="0"/>
              <a:t>         /     \</a:t>
            </a:r>
          </a:p>
          <a:p>
            <a:pPr marL="0" indent="0" algn="ctr">
              <a:buNone/>
            </a:pPr>
            <a:r>
              <a:rPr lang="en-CA" dirty="0"/>
              <a:t>       B        </a:t>
            </a:r>
            <a:r>
              <a:rPr lang="en-CA" dirty="0" err="1"/>
              <a:t>B</a:t>
            </a:r>
            <a:endParaRPr lang="en-CA" dirty="0"/>
          </a:p>
          <a:p>
            <a:pPr marL="0" indent="0" algn="ctr">
              <a:buNone/>
            </a:pPr>
            <a:r>
              <a:rPr lang="en-CA" dirty="0"/>
              <a:t>     /   \        \</a:t>
            </a:r>
          </a:p>
          <a:p>
            <a:pPr marL="0" indent="0" algn="ctr">
              <a:buNone/>
            </a:pPr>
            <a:r>
              <a:rPr lang="en-CA" dirty="0"/>
              <a:t>    c      B       d</a:t>
            </a:r>
          </a:p>
          <a:p>
            <a:pPr marL="0" indent="0" algn="ctr">
              <a:buNone/>
            </a:pPr>
            <a:r>
              <a:rPr lang="en-CA" dirty="0"/>
              <a:t>   /   \</a:t>
            </a:r>
          </a:p>
          <a:p>
            <a:pPr marL="0" indent="0" algn="ctr">
              <a:buNone/>
            </a:pPr>
            <a:r>
              <a:rPr lang="en-CA" dirty="0"/>
              <a:t>   c       B</a:t>
            </a:r>
          </a:p>
          <a:p>
            <a:pPr marL="0" indent="0" algn="ctr">
              <a:buNone/>
            </a:pPr>
            <a:r>
              <a:rPr lang="en-CA" dirty="0"/>
              <a:t>                  \ </a:t>
            </a:r>
          </a:p>
          <a:p>
            <a:pPr marL="0" indent="0" algn="ctr">
              <a:buNone/>
            </a:pPr>
            <a:r>
              <a:rPr lang="en-CA" dirty="0"/>
              <a:t>                    d</a:t>
            </a:r>
          </a:p>
        </p:txBody>
      </p:sp>
      <p:graphicFrame>
        <p:nvGraphicFramePr>
          <p:cNvPr id="4" name="Content Placeholder 3">
            <a:extLst>
              <a:ext uri="{FF2B5EF4-FFF2-40B4-BE49-F238E27FC236}">
                <a16:creationId xmlns:a16="http://schemas.microsoft.com/office/drawing/2014/main" id="{7C5B7197-0C4D-4777-AC91-EE14293395DF}"/>
              </a:ext>
            </a:extLst>
          </p:cNvPr>
          <p:cNvGraphicFramePr>
            <a:graphicFrameLocks/>
          </p:cNvGraphicFramePr>
          <p:nvPr>
            <p:extLst>
              <p:ext uri="{D42A27DB-BD31-4B8C-83A1-F6EECF244321}">
                <p14:modId xmlns:p14="http://schemas.microsoft.com/office/powerpoint/2010/main" val="758028051"/>
              </p:ext>
            </p:extLst>
          </p:nvPr>
        </p:nvGraphicFramePr>
        <p:xfrm>
          <a:off x="838200" y="1541915"/>
          <a:ext cx="6244770" cy="4635048"/>
        </p:xfrm>
        <a:graphic>
          <a:graphicData uri="http://schemas.openxmlformats.org/drawingml/2006/table">
            <a:tbl>
              <a:tblPr firstRow="1" bandRow="1">
                <a:tableStyleId>{F5AB1C69-6EDB-4FF4-983F-18BD219EF322}</a:tableStyleId>
              </a:tblPr>
              <a:tblGrid>
                <a:gridCol w="2081590">
                  <a:extLst>
                    <a:ext uri="{9D8B030D-6E8A-4147-A177-3AD203B41FA5}">
                      <a16:colId xmlns:a16="http://schemas.microsoft.com/office/drawing/2014/main" val="1259456047"/>
                    </a:ext>
                  </a:extLst>
                </a:gridCol>
                <a:gridCol w="2081590">
                  <a:extLst>
                    <a:ext uri="{9D8B030D-6E8A-4147-A177-3AD203B41FA5}">
                      <a16:colId xmlns:a16="http://schemas.microsoft.com/office/drawing/2014/main" val="2147854744"/>
                    </a:ext>
                  </a:extLst>
                </a:gridCol>
                <a:gridCol w="2081590">
                  <a:extLst>
                    <a:ext uri="{9D8B030D-6E8A-4147-A177-3AD203B41FA5}">
                      <a16:colId xmlns:a16="http://schemas.microsoft.com/office/drawing/2014/main" val="3213596180"/>
                    </a:ext>
                  </a:extLst>
                </a:gridCol>
              </a:tblGrid>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Stack</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Input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Action</a:t>
                      </a:r>
                    </a:p>
                  </a:txBody>
                  <a:tcPr/>
                </a:tc>
                <a:extLst>
                  <a:ext uri="{0D108BD9-81ED-4DB2-BD59-A6C34878D82A}">
                    <a16:rowId xmlns:a16="http://schemas.microsoft.com/office/drawing/2014/main" val="751079733"/>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a:t>
                      </a:r>
                      <a:r>
                        <a:rPr lang="en-CA" sz="2000" dirty="0">
                          <a:solidFill>
                            <a:schemeClr val="accent1"/>
                          </a:solidFill>
                          <a:latin typeface="Cambria" panose="02040503050406030204" pitchFamily="18" charset="0"/>
                          <a:ea typeface="Cambria" panose="02040503050406030204" pitchFamily="18" charset="0"/>
                        </a:rPr>
                        <a:t>0</a:t>
                      </a:r>
                    </a:p>
                  </a:txBody>
                  <a:tcPr/>
                </a:tc>
                <a:tc>
                  <a:txBody>
                    <a:bodyPr/>
                    <a:lstStyle/>
                    <a:p>
                      <a:pPr algn="ctr"/>
                      <a:r>
                        <a:rPr lang="en-CA" sz="2000" dirty="0" err="1">
                          <a:solidFill>
                            <a:srgbClr val="FF0000"/>
                          </a:solidFill>
                          <a:latin typeface="Cambria" panose="02040503050406030204" pitchFamily="18" charset="0"/>
                          <a:ea typeface="Cambria" panose="02040503050406030204" pitchFamily="18" charset="0"/>
                        </a:rPr>
                        <a:t>c</a:t>
                      </a:r>
                      <a:r>
                        <a:rPr lang="en-CA" sz="2000" dirty="0" err="1">
                          <a:solidFill>
                            <a:schemeClr val="tx1"/>
                          </a:solidFill>
                          <a:latin typeface="Cambria" panose="02040503050406030204" pitchFamily="18" charset="0"/>
                          <a:ea typeface="Cambria" panose="02040503050406030204" pitchFamily="18" charset="0"/>
                        </a:rPr>
                        <a:t>cdd</a:t>
                      </a: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c → </a:t>
                      </a:r>
                      <a:r>
                        <a:rPr lang="en-CA" sz="2000" dirty="0">
                          <a:solidFill>
                            <a:srgbClr val="7030A0"/>
                          </a:solidFill>
                          <a:latin typeface="Cambria" panose="02040503050406030204" pitchFamily="18" charset="0"/>
                          <a:ea typeface="Cambria" panose="02040503050406030204" pitchFamily="18" charset="0"/>
                        </a:rPr>
                        <a:t>S3</a:t>
                      </a:r>
                    </a:p>
                  </a:txBody>
                  <a:tcPr/>
                </a:tc>
                <a:extLst>
                  <a:ext uri="{0D108BD9-81ED-4DB2-BD59-A6C34878D82A}">
                    <a16:rowId xmlns:a16="http://schemas.microsoft.com/office/drawing/2014/main" val="2730531951"/>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a:t>
                      </a:r>
                      <a:r>
                        <a:rPr lang="en-CA" sz="2000" dirty="0">
                          <a:solidFill>
                            <a:srgbClr val="FF0000"/>
                          </a:solidFill>
                          <a:latin typeface="Cambria" panose="02040503050406030204" pitchFamily="18" charset="0"/>
                          <a:ea typeface="Cambria" panose="02040503050406030204" pitchFamily="18" charset="0"/>
                        </a:rPr>
                        <a:t>c</a:t>
                      </a:r>
                      <a:r>
                        <a:rPr lang="en-CA" sz="2000" dirty="0">
                          <a:solidFill>
                            <a:srgbClr val="7030A0"/>
                          </a:solidFill>
                          <a:latin typeface="Cambria" panose="02040503050406030204" pitchFamily="18" charset="0"/>
                          <a:ea typeface="Cambria" panose="02040503050406030204" pitchFamily="18" charset="0"/>
                        </a:rPr>
                        <a:t>3</a:t>
                      </a:r>
                    </a:p>
                  </a:txBody>
                  <a:tcPr/>
                </a:tc>
                <a:tc>
                  <a:txBody>
                    <a:bodyPr/>
                    <a:lstStyle/>
                    <a:p>
                      <a:pPr algn="ctr"/>
                      <a:r>
                        <a:rPr lang="en-CA" sz="2000" dirty="0" err="1">
                          <a:solidFill>
                            <a:schemeClr val="tx1"/>
                          </a:solidFill>
                          <a:latin typeface="Cambria" panose="02040503050406030204" pitchFamily="18" charset="0"/>
                          <a:ea typeface="Cambria" panose="02040503050406030204" pitchFamily="18" charset="0"/>
                        </a:rPr>
                        <a:t>cdd</a:t>
                      </a: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c → S3</a:t>
                      </a:r>
                    </a:p>
                  </a:txBody>
                  <a:tcPr/>
                </a:tc>
                <a:extLst>
                  <a:ext uri="{0D108BD9-81ED-4DB2-BD59-A6C34878D82A}">
                    <a16:rowId xmlns:a16="http://schemas.microsoft.com/office/drawing/2014/main" val="180241647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d → S4</a:t>
                      </a:r>
                    </a:p>
                  </a:txBody>
                  <a:tcPr/>
                </a:tc>
                <a:extLst>
                  <a:ext uri="{0D108BD9-81ED-4DB2-BD59-A6C34878D82A}">
                    <a16:rowId xmlns:a16="http://schemas.microsoft.com/office/drawing/2014/main" val="53674395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$0c3c3d4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d</a:t>
                      </a:r>
                    </a:p>
                  </a:txBody>
                  <a:tcPr/>
                </a:tc>
                <a:extLst>
                  <a:ext uri="{0D108BD9-81ED-4DB2-BD59-A6C34878D82A}">
                    <a16:rowId xmlns:a16="http://schemas.microsoft.com/office/drawing/2014/main" val="1474904864"/>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$0c3c3</a:t>
                      </a:r>
                      <a:r>
                        <a:rPr lang="en-CA" sz="2000" dirty="0">
                          <a:solidFill>
                            <a:srgbClr val="7030A0"/>
                          </a:solidFill>
                          <a:latin typeface="Cambria" panose="02040503050406030204" pitchFamily="18" charset="0"/>
                          <a:ea typeface="Cambria" panose="02040503050406030204" pitchFamily="18" charset="0"/>
                        </a:rPr>
                        <a:t>B</a:t>
                      </a:r>
                      <a:r>
                        <a:rPr lang="en-CA" sz="2000" dirty="0">
                          <a:solidFill>
                            <a:srgbClr val="00B0F0"/>
                          </a:solidFill>
                          <a:latin typeface="Cambria" panose="02040503050406030204" pitchFamily="18" charset="0"/>
                          <a:ea typeface="Cambria" panose="02040503050406030204" pitchFamily="18" charset="0"/>
                        </a:rPr>
                        <a:t>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a:t>
                      </a:r>
                      <a:r>
                        <a:rPr lang="en-CA" sz="2000" dirty="0" err="1">
                          <a:solidFill>
                            <a:schemeClr val="tx1"/>
                          </a:solidFill>
                          <a:latin typeface="Cambria" panose="02040503050406030204" pitchFamily="18" charset="0"/>
                          <a:ea typeface="Cambria" panose="02040503050406030204" pitchFamily="18" charset="0"/>
                        </a:rPr>
                        <a:t>cB</a:t>
                      </a: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290297623"/>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$0c3B6</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a:t>
                      </a:r>
                      <a:r>
                        <a:rPr lang="en-CA" sz="2000" dirty="0" err="1">
                          <a:solidFill>
                            <a:schemeClr val="tx1"/>
                          </a:solidFill>
                          <a:latin typeface="Cambria" panose="02040503050406030204" pitchFamily="18" charset="0"/>
                          <a:ea typeface="Cambria" panose="02040503050406030204" pitchFamily="18" charset="0"/>
                        </a:rPr>
                        <a:t>cB</a:t>
                      </a:r>
                      <a:endParaRPr lang="en-CA" sz="200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146067371"/>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d$</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Shift d → S4</a:t>
                      </a:r>
                    </a:p>
                  </a:txBody>
                  <a:tcPr/>
                </a:tc>
                <a:extLst>
                  <a:ext uri="{0D108BD9-81ED-4DB2-BD59-A6C34878D82A}">
                    <a16:rowId xmlns:a16="http://schemas.microsoft.com/office/drawing/2014/main" val="1807694375"/>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$0B2d4</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B → d</a:t>
                      </a:r>
                    </a:p>
                  </a:txBody>
                  <a:tcPr/>
                </a:tc>
                <a:extLst>
                  <a:ext uri="{0D108BD9-81ED-4DB2-BD59-A6C34878D82A}">
                    <a16:rowId xmlns:a16="http://schemas.microsoft.com/office/drawing/2014/main" val="2353855684"/>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$0B2B5</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Reduce E → BB</a:t>
                      </a:r>
                    </a:p>
                  </a:txBody>
                  <a:tcPr/>
                </a:tc>
                <a:extLst>
                  <a:ext uri="{0D108BD9-81ED-4DB2-BD59-A6C34878D82A}">
                    <a16:rowId xmlns:a16="http://schemas.microsoft.com/office/drawing/2014/main" val="2813479318"/>
                  </a:ext>
                </a:extLst>
              </a:tr>
              <a:tr h="421368">
                <a:tc>
                  <a:txBody>
                    <a:bodyPr/>
                    <a:lstStyle/>
                    <a:p>
                      <a:pPr algn="ctr"/>
                      <a:r>
                        <a:rPr lang="en-CA" sz="2000" dirty="0">
                          <a:solidFill>
                            <a:schemeClr val="tx1"/>
                          </a:solidFill>
                          <a:latin typeface="Cambria" panose="02040503050406030204" pitchFamily="18" charset="0"/>
                          <a:ea typeface="Cambria" panose="02040503050406030204" pitchFamily="18" charset="0"/>
                        </a:rPr>
                        <a:t>$0E1</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t>
                      </a:r>
                    </a:p>
                  </a:txBody>
                  <a:tcPr/>
                </a:tc>
                <a:tc>
                  <a:txBody>
                    <a:bodyPr/>
                    <a:lstStyle/>
                    <a:p>
                      <a:pPr algn="ctr"/>
                      <a:r>
                        <a:rPr lang="en-CA" sz="2000" dirty="0">
                          <a:solidFill>
                            <a:schemeClr val="tx1"/>
                          </a:solidFill>
                          <a:latin typeface="Cambria" panose="02040503050406030204" pitchFamily="18" charset="0"/>
                          <a:ea typeface="Cambria" panose="02040503050406030204" pitchFamily="18" charset="0"/>
                        </a:rPr>
                        <a:t>Accept</a:t>
                      </a:r>
                    </a:p>
                  </a:txBody>
                  <a:tcPr/>
                </a:tc>
                <a:extLst>
                  <a:ext uri="{0D108BD9-81ED-4DB2-BD59-A6C34878D82A}">
                    <a16:rowId xmlns:a16="http://schemas.microsoft.com/office/drawing/2014/main" val="3039960195"/>
                  </a:ext>
                </a:extLst>
              </a:tr>
            </a:tbl>
          </a:graphicData>
        </a:graphic>
      </p:graphicFrame>
    </p:spTree>
    <p:extLst>
      <p:ext uri="{BB962C8B-B14F-4D97-AF65-F5344CB8AC3E}">
        <p14:creationId xmlns:p14="http://schemas.microsoft.com/office/powerpoint/2010/main" val="3759198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975C8-1D0F-4D8D-A9A1-D09A6CFC8B4D}"/>
              </a:ext>
            </a:extLst>
          </p:cNvPr>
          <p:cNvSpPr>
            <a:spLocks noGrp="1"/>
          </p:cNvSpPr>
          <p:nvPr>
            <p:ph type="title"/>
          </p:nvPr>
        </p:nvSpPr>
        <p:spPr/>
        <p:txBody>
          <a:bodyPr/>
          <a:lstStyle/>
          <a:p>
            <a:r>
              <a:rPr lang="en-CA" dirty="0"/>
              <a:t>Thank You</a:t>
            </a:r>
          </a:p>
        </p:txBody>
      </p:sp>
      <p:sp>
        <p:nvSpPr>
          <p:cNvPr id="3" name="Content Placeholder 2">
            <a:extLst>
              <a:ext uri="{FF2B5EF4-FFF2-40B4-BE49-F238E27FC236}">
                <a16:creationId xmlns:a16="http://schemas.microsoft.com/office/drawing/2014/main" id="{C4B40192-9DA5-42FE-8333-BE38FE1F0B80}"/>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336158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679</Words>
  <Application>Microsoft Office PowerPoint</Application>
  <PresentationFormat>Widescreen</PresentationFormat>
  <Paragraphs>249</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LR Parser</vt:lpstr>
      <vt:lpstr>Agenda</vt:lpstr>
      <vt:lpstr>Parser</vt:lpstr>
      <vt:lpstr>Generation of Parse Tree</vt:lpstr>
      <vt:lpstr>Classification of Parsers</vt:lpstr>
      <vt:lpstr>LR(0) Parser</vt:lpstr>
      <vt:lpstr>Numerical</vt:lpstr>
      <vt:lpstr>Step 1: Augment and Label</vt:lpstr>
      <vt:lpstr>Step 2: Draw DFA Diagram</vt:lpstr>
      <vt:lpstr>Step 3: Parsing Table</vt:lpstr>
      <vt:lpstr>Step 4: Stack Implementation</vt:lpstr>
      <vt:lpstr>Step 5: Parse Tree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Sagar Chhabriya</dc:creator>
  <cp:lastModifiedBy>Sagar Chhabriya</cp:lastModifiedBy>
  <cp:revision>23</cp:revision>
  <dcterms:created xsi:type="dcterms:W3CDTF">2025-11-27T04:16:14Z</dcterms:created>
  <dcterms:modified xsi:type="dcterms:W3CDTF">2025-11-27T07:46:08Z</dcterms:modified>
</cp:coreProperties>
</file>